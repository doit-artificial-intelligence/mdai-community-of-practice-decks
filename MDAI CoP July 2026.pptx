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 SemiBold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Montserrat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Medium-bold.fntdata"/><Relationship Id="rId41" Type="http://schemas.openxmlformats.org/officeDocument/2006/relationships/font" Target="fonts/MontserratMedium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SemiBold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Semi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1d1a1f3fa_0_24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g2f1d1a1f3fa_0_24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0" name="Google Shape;110;g2f1d1a1f3fa_0_24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f1d1a1f3fa_0_24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2f1d1a1f3fa_0_24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3" name="Google Shape;113;g2f1d1a1f3fa_0_24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1eea052b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2" name="Google Shape;122;g3db1eea052b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3" name="Google Shape;123;g3db1eea052b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b1eea052b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b1eea052b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6" name="Google Shape;126;g3db1eea052b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b1eea052b_0_10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6" name="Google Shape;136;g3db1eea052b_0_10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7" name="Google Shape;137;g3db1eea052b_0_10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b1eea052b_0_10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b1eea052b_0_10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g3db1eea052b_0_10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b1eea052b_0_2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g3db1eea052b_0_2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4" name="Google Shape;154;g3db1eea052b_0_21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b1eea052b_0_21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b1eea052b_0_21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7" name="Google Shape;157;g3db1eea052b_0_21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1eea052b_0_3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g3db1eea052b_0_3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g3db1eea052b_0_32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b1eea052b_0_32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b1eea052b_0_32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g3db1eea052b_0_32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b1eea052b_0_42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g3db1eea052b_0_42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4" name="Google Shape;184;g3db1eea052b_0_42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db1eea052b_0_42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b1eea052b_0_42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g3db1eea052b_0_42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1eea052b_0_53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g3db1eea052b_0_53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9" name="Google Shape;199;g3db1eea052b_0_53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b1eea052b_0_53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b1eea052b_0_53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g3db1eea052b_0_53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b1eea052b_0_64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3" name="Google Shape;213;g3db1eea052b_0_64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4" name="Google Shape;214;g3db1eea052b_0_64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db1eea052b_0_64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b1eea052b_0_64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7" name="Google Shape;217;g3db1eea052b_0_64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73d92db37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g3e73d92db37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9" name="Google Shape;229;g3e73d92db37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73d92db37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73d92db37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g3e73d92db37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3f31c06a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g3f53f31c06a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3" name="Google Shape;243;g3f53f31c06a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53f31c06a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53f31c06a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g3f53f31c06a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5456399df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5456399df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5456399df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258" name="Google Shape;258;g3f5456399df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5456399df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5456399df_0_1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5456399df_0_11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5456399df_0_11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273" name="Google Shape;273;g3f5456399df_0_11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5456399df_0_11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5456399df_0_23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5456399df_0_23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5456399df_0_23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287" name="Google Shape;287;g3f5456399df_0_23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5456399df_0_23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456399df_0_34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5456399df_0_34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f5456399df_0_34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01" name="Google Shape;301;g3f5456399df_0_34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5456399df_0_34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5456399df_0_46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5456399df_0_46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5456399df_0_46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16" name="Google Shape;316;g3f5456399df_0_46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5456399df_0_46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5456399df_0_57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5456399df_0_57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5456399df_0_57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30" name="Google Shape;330;g3f5456399df_0_57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5456399df_0_57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5456399df_0_69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5456399df_0_69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5456399df_0_69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44" name="Google Shape;344;g3f5456399df_0_69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5456399df_0_69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829d05566_0_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7" name="Google Shape;357;g3e829d05566_0_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8" name="Google Shape;358;g3e829d05566_0_2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829d05566_0_2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829d05566_0_2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1" name="Google Shape;361;g3e829d05566_0_2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53f31c06a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53f31c06a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53f31c06a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53f31c06a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53f31c06a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53f31c06a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53f31c06a_0_3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53f31c06a_0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53f31c06a_0_5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f53f31c06a_0_5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53f31c06a_0_6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53f31c06a_0_6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naming convention and bulk rename: 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my model’s naming conventions and suggest renames to ensure consistency.</a:t>
            </a:r>
            <a:b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the naming convention of the ‘Sales’ table and apply the same pattern across the entire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descriptions across your model for documentation: 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descriptions to all measures, columns, and tables to clearly explain their purpose and explain the logic behind the DAX code in simple, understandable terms.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Translate your semantic model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Generate a French translation for my model including tables, columns and measures.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Refactor measures into Calculation Groups or UDF: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Refactor measures 'Sales Amount 12M Avg' and 'Sales Amount 6M Avg' into a calculation group and include new variants: 24M and 3M.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Refactor your queries to use semantic model parameters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Analyze the Power Query code for all tables, identify the data source configuration, and create semantic model parameters to enable easy switching of the data source location.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Benchmark DAX queries against multiple models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Connect to semantic model 'V1' and 'V2. And benchmark the following DAX query against both models. [DAX Query]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your semantic model</a:t>
            </a:r>
            <a:r>
              <a:rPr b="0" i="0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Generate a Markdown document (.md) that provides complete, professional documentation for a Power BI Semantic Model. Use a simple mermaid diagram to illustrate the table relationships; Document each measure including the DAX code and a description of the business logic using business friendly names; Document row level filters; Document the data sources by analyzing the Power Query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53f31c06a_0_6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53f31c06a_0_7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f53f31c06a_0_7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f53f31c06a_0_8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f53f31c06a_0_8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b1eea052b_0_75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4" name="Google Shape;744;g3db1eea052b_0_75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45" name="Google Shape;745;g3db1eea052b_0_75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g3db1eea052b_0_75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db1eea052b_0_75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8" name="Google Shape;748;g3db1eea052b_0_75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10853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F1238"/>
              </a:buClr>
              <a:buSzPts val="3200"/>
              <a:buFont typeface="Montserrat"/>
              <a:buNone/>
              <a:defRPr b="1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865250"/>
            <a:ext cx="8520600" cy="3244800"/>
          </a:xfrm>
          <a:prstGeom prst="rect">
            <a:avLst/>
          </a:prstGeom>
          <a:solidFill>
            <a:srgbClr val="EEEEEE">
              <a:alpha val="74840"/>
            </a:srgbClr>
          </a:solidFill>
        </p:spPr>
        <p:txBody>
          <a:bodyPr anchorCtr="0" anchor="t" bIns="91425" lIns="91425" spcFirstLastPara="1" rIns="91425" wrap="square" tIns="182875">
            <a:normAutofit/>
          </a:bodyPr>
          <a:lstStyle>
            <a:lvl1pPr indent="-3683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40A3C"/>
              </a:buClr>
              <a:buSzPts val="2200"/>
              <a:buFont typeface="Montserrat"/>
              <a:buChar char="●"/>
              <a:defRPr sz="2200"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●"/>
              <a:defRPr sz="1800"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●"/>
              <a:defRPr sz="1800"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Montserrat"/>
              <a:buChar char="○"/>
              <a:defRPr sz="1800"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Font typeface="Montserrat"/>
              <a:buChar char="■"/>
              <a:defRPr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431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3665751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55" name="Google Shape;55;p13"/>
            <p:cNvSpPr/>
            <p:nvPr/>
          </p:nvSpPr>
          <p:spPr>
            <a:xfrm>
              <a:off x="1306513" y="0"/>
              <a:ext cx="3862388" cy="6843712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120775" y="0"/>
              <a:ext cx="3676651" cy="6843712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001713" y="0"/>
              <a:ext cx="3621089" cy="6843712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1001713" y="0"/>
              <a:ext cx="3244849" cy="6843712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889000" y="0"/>
              <a:ext cx="3230563" cy="6843712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484188" y="0"/>
              <a:ext cx="3421064" cy="6843712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598488" y="0"/>
              <a:ext cx="2717799" cy="6843712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261938" y="0"/>
              <a:ext cx="2944812" cy="6843712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-417513" y="0"/>
              <a:ext cx="2403475" cy="6843712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" name="Google Shape;76;p13"/>
          <p:cNvGrpSpPr/>
          <p:nvPr/>
        </p:nvGrpSpPr>
        <p:grpSpPr>
          <a:xfrm>
            <a:off x="600108" y="1274692"/>
            <a:ext cx="2755944" cy="2602816"/>
            <a:chOff x="697883" y="1816768"/>
            <a:chExt cx="3674592" cy="3470421"/>
          </a:xfrm>
        </p:grpSpPr>
        <p:sp>
          <p:nvSpPr>
            <p:cNvPr id="77" name="Google Shape;77;p13"/>
            <p:cNvSpPr/>
            <p:nvPr/>
          </p:nvSpPr>
          <p:spPr>
            <a:xfrm>
              <a:off x="697883" y="1816768"/>
              <a:ext cx="3674400" cy="502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 rot="10800000">
              <a:off x="2380312" y="5014789"/>
              <a:ext cx="315900" cy="272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704075" y="2392840"/>
              <a:ext cx="3668400" cy="262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3"/>
          <p:cNvSpPr txBox="1"/>
          <p:nvPr>
            <p:ph type="title"/>
          </p:nvPr>
        </p:nvSpPr>
        <p:spPr>
          <a:xfrm>
            <a:off x="666473" y="1762444"/>
            <a:ext cx="2624100" cy="18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450" lIns="171450" spcFirstLastPara="1" rIns="171450" wrap="square" tIns="17145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3838835" y="602390"/>
            <a:ext cx="4711500" cy="3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603504" y="240030"/>
            <a:ext cx="2743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603504" y="4670298"/>
            <a:ext cx="794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7852410" y="240030"/>
            <a:ext cx="68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one third" showMasterSp="0">
  <p:cSld name="D. Green one third">
    <p:bg>
      <p:bgPr>
        <a:solidFill>
          <a:srgbClr val="C40A3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>
            <p:ph type="title"/>
          </p:nvPr>
        </p:nvSpPr>
        <p:spPr>
          <a:xfrm>
            <a:off x="472500" y="2010827"/>
            <a:ext cx="23457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90" name="Google Shape;90;p14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yellow flag with red and black text&#10;&#10;Description automatically generated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500" y="59627"/>
            <a:ext cx="737609" cy="31456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97260" y="12870"/>
            <a:ext cx="315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PIA Exempt – Confidential Information</a:t>
            </a:r>
            <a:endParaRPr sz="1100"/>
          </a:p>
        </p:txBody>
      </p:sp>
      <p:sp>
        <p:nvSpPr>
          <p:cNvPr id="93" name="Google Shape;93;p14"/>
          <p:cNvSpPr txBox="1"/>
          <p:nvPr/>
        </p:nvSpPr>
        <p:spPr>
          <a:xfrm>
            <a:off x="3059044" y="4992131"/>
            <a:ext cx="3027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DRAFT – DO NOT DISTRIBUTE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. Title and Text">
  <p:cSld name="1_D. Title and 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72050" y="1564221"/>
            <a:ext cx="82005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■"/>
              <a:defRPr/>
            </a:lvl6pPr>
            <a:lvl7pPr indent="-43815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3300"/>
              <a:buChar char="●"/>
              <a:defRPr/>
            </a:lvl7pPr>
            <a:lvl8pPr indent="-48895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41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SzPts val="1800"/>
              <a:buChar char="■"/>
              <a:defRPr/>
            </a:lvl9pPr>
          </a:lstStyle>
          <a:p/>
        </p:txBody>
      </p:sp>
      <p:pic>
        <p:nvPicPr>
          <p:cNvPr descr="A black and yellow flag with red and black text&#10;&#10;Description automatically generated" id="97" name="Google Shape;9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500" y="59627"/>
            <a:ext cx="737609" cy="31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">
  <p:cSld name="CUSTOM_2_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457175" y="1536250"/>
            <a:ext cx="5459100" cy="27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457175" y="460250"/>
            <a:ext cx="54591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">
  <p:cSld name="CUSTOM_3_1_1_1_1_1_1_1_1_1_1_1_1_2"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 1">
  <p:cSld name="CUSTOM_3_1_1_1_1_1_1_1_1_1_1_1_1_3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Break Left 2">
  <p:cSld name="CUSTOM_3_1_1_1_1_1_1_1_1_1_1_1_1_4"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57175" y="1535400"/>
            <a:ext cx="4077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-4450"/>
            <a:ext cx="9147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3.png"/><Relationship Id="rId4" Type="http://schemas.openxmlformats.org/officeDocument/2006/relationships/image" Target="../media/image6.png"/><Relationship Id="rId5" Type="http://schemas.openxmlformats.org/officeDocument/2006/relationships/hyperlink" Target="https://meet.google.com/cbi-iazh-cc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40.png"/><Relationship Id="rId9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microsoft/powerbi-modeling-mcp" TargetMode="External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earn.microsoft.com/en-us/power-bi/developer/agentic/power-bi-report-authoring-skill-overview" TargetMode="External"/><Relationship Id="rId4" Type="http://schemas.openxmlformats.org/officeDocument/2006/relationships/hyperlink" Target="https://github.com/microsoft/skills-for-fabric" TargetMode="External"/><Relationship Id="rId9" Type="http://schemas.openxmlformats.org/officeDocument/2006/relationships/image" Target="../media/image26.png"/><Relationship Id="rId5" Type="http://schemas.openxmlformats.org/officeDocument/2006/relationships/hyperlink" Target="https://learn.microsoft.com/en-us/power-bi/developer/mcp/" TargetMode="External"/><Relationship Id="rId6" Type="http://schemas.openxmlformats.org/officeDocument/2006/relationships/hyperlink" Target="https://github.com/microsoft/powerbi-modeling-mcp" TargetMode="External"/><Relationship Id="rId7" Type="http://schemas.openxmlformats.org/officeDocument/2006/relationships/hyperlink" Target="https://github.com/microsoft/powerbi-modeling-mcp" TargetMode="External"/><Relationship Id="rId8" Type="http://schemas.openxmlformats.org/officeDocument/2006/relationships/hyperlink" Target="https://github.com/microsoft/powerbi-modeling-mc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6.png"/><Relationship Id="rId5" Type="http://schemas.openxmlformats.org/officeDocument/2006/relationships/hyperlink" Target="https://doitmaryland.service-now.com/doit?id=sc_cat_item&amp;sys_id=90ebe560db6bd300b302e9ec0b9619e0" TargetMode="External"/><Relationship Id="rId6" Type="http://schemas.openxmlformats.org/officeDocument/2006/relationships/hyperlink" Target="https://calendar.google.com/calendar/u/0/appointments/schedules/AcZssZ0npA6K5mL31wGMw6dc1QP2-4PqSRKfhghFn-wei3yFTpI04dPFUrqZJ_0v1U9zP5OjXcfy0COY" TargetMode="External"/><Relationship Id="rId7" Type="http://schemas.openxmlformats.org/officeDocument/2006/relationships/hyperlink" Target="mailto:AI@Maryland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0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16" name="Google Shape;116;p20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0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20"/>
          <p:cNvSpPr txBox="1"/>
          <p:nvPr/>
        </p:nvSpPr>
        <p:spPr>
          <a:xfrm>
            <a:off x="230525" y="1136150"/>
            <a:ext cx="8677500" cy="21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 AI Community of Practice (MDA</a:t>
            </a:r>
            <a:r>
              <a:rPr b="1" lang="en" sz="45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I)</a:t>
            </a:r>
            <a:endParaRPr b="1" sz="45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07/17/2026</a:t>
            </a:r>
            <a:r>
              <a:rPr b="1" i="0" lang="en" sz="45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1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29" name="Google Shape;129;p21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21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21"/>
          <p:cNvSpPr txBox="1"/>
          <p:nvPr/>
        </p:nvSpPr>
        <p:spPr>
          <a:xfrm>
            <a:off x="168925" y="877181"/>
            <a:ext cx="88989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Welcome and Introduction to the AI CoP 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(Lauren Maffeo,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Welcoming Maryland’s New AI Advisor 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(Michael Boyce,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MCP Servers 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(Sachin Bhatt,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[Demo] Using PowerBI’s MCP Server to Create/Query Tables 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(Louis Abonyi, DSCI)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AutoNum type="arabicPeriod"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What’s Next</a:t>
            </a:r>
            <a:r>
              <a:rPr lang="en"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(Lauren Maffeo, DoIT)</a:t>
            </a:r>
            <a:endParaRPr sz="1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245125" y="146692"/>
            <a:ext cx="676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2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43" name="Google Shape;143;p22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2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2"/>
          <p:cNvGrpSpPr/>
          <p:nvPr/>
        </p:nvGrpSpPr>
        <p:grpSpPr>
          <a:xfrm>
            <a:off x="4370349" y="227984"/>
            <a:ext cx="4548398" cy="4044127"/>
            <a:chOff x="4916101" y="1898258"/>
            <a:chExt cx="8455842" cy="5797200"/>
          </a:xfrm>
        </p:grpSpPr>
        <p:sp>
          <p:nvSpPr>
            <p:cNvPr id="146" name="Google Shape;146;p22"/>
            <p:cNvSpPr/>
            <p:nvPr/>
          </p:nvSpPr>
          <p:spPr>
            <a:xfrm>
              <a:off x="4916101" y="1898258"/>
              <a:ext cx="8455800" cy="57972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2"/>
            <p:cNvSpPr txBox="1"/>
            <p:nvPr/>
          </p:nvSpPr>
          <p:spPr>
            <a:xfrm>
              <a:off x="5023243" y="2591409"/>
              <a:ext cx="8348700" cy="48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Mics on Mute to prevent background noise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Only the speaker should have their camera on to avoid visual distractions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Add your questions to the Comments or Q&amp;A section of our chat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The AI Enablement Team will try and address questions in the chat async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Forward this meeting to peers who might benefit (</a:t>
              </a:r>
              <a:r>
                <a:rPr lang="en" sz="1200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5"/>
                </a:rPr>
                <a:t>https://meet.google.com/cbi-iazh-ccn</a:t>
              </a: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)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190500" lvl="0" marL="22860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SemiBold"/>
                <a:buChar char="➔"/>
              </a:pPr>
              <a:r>
                <a:rPr lang="en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Bring an owner’s mindset &amp; participate!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48" name="Google Shape;148;p22"/>
          <p:cNvSpPr txBox="1"/>
          <p:nvPr/>
        </p:nvSpPr>
        <p:spPr>
          <a:xfrm>
            <a:off x="962113" y="1714500"/>
            <a:ext cx="32268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CoP Etiquette </a:t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873538" y="1840413"/>
            <a:ext cx="0" cy="880500"/>
          </a:xfrm>
          <a:prstGeom prst="straightConnector1">
            <a:avLst/>
          </a:prstGeom>
          <a:noFill/>
          <a:ln cap="flat" cmpd="sng" w="152400">
            <a:solidFill>
              <a:srgbClr val="FFC4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2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3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60" name="Google Shape;160;p23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3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23"/>
          <p:cNvSpPr txBox="1"/>
          <p:nvPr/>
        </p:nvSpPr>
        <p:spPr>
          <a:xfrm>
            <a:off x="1388748" y="1578002"/>
            <a:ext cx="675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MDAI’s Vision &amp; Values</a:t>
            </a:r>
            <a:r>
              <a:rPr b="1" lang="en" sz="37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4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74" name="Google Shape;174;p24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4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4"/>
          <p:cNvGrpSpPr/>
          <p:nvPr/>
        </p:nvGrpSpPr>
        <p:grpSpPr>
          <a:xfrm>
            <a:off x="107250" y="1368438"/>
            <a:ext cx="8929500" cy="2385150"/>
            <a:chOff x="70900" y="2584475"/>
            <a:chExt cx="17859000" cy="4770300"/>
          </a:xfrm>
        </p:grpSpPr>
        <p:sp>
          <p:nvSpPr>
            <p:cNvPr id="177" name="Google Shape;177;p24"/>
            <p:cNvSpPr/>
            <p:nvPr/>
          </p:nvSpPr>
          <p:spPr>
            <a:xfrm>
              <a:off x="70900" y="2584475"/>
              <a:ext cx="17859000" cy="4770300"/>
            </a:xfrm>
            <a:prstGeom prst="roundRect">
              <a:avLst>
                <a:gd fmla="val 6717" name="adj"/>
              </a:avLst>
            </a:prstGeom>
            <a:solidFill>
              <a:srgbClr val="BF12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4"/>
            <p:cNvSpPr txBox="1"/>
            <p:nvPr/>
          </p:nvSpPr>
          <p:spPr>
            <a:xfrm>
              <a:off x="434650" y="3662250"/>
              <a:ext cx="17131500" cy="3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State of Maryland responsibly, ethically, and productively leverages AI/ML technologies to significantly improve constituent outcomes and reduce drudgery for the State workforce. </a:t>
              </a:r>
              <a:endParaRPr b="1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79" name="Google Shape;179;p24"/>
          <p:cNvSpPr txBox="1"/>
          <p:nvPr/>
        </p:nvSpPr>
        <p:spPr>
          <a:xfrm>
            <a:off x="245125" y="313200"/>
            <a:ext cx="73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Maryland’s Vision for AI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5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190" name="Google Shape;190;p25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6"/>
          </a:xfrm>
        </p:grpSpPr>
        <p:sp>
          <p:nvSpPr>
            <p:cNvPr id="194" name="Google Shape;194;p25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5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</a:t>
              </a:r>
              <a:endParaRPr b="1" sz="3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556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ontserrat"/>
                <a:buAutoNum type="arabicParenR"/>
              </a:pP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</a:t>
              </a:r>
              <a:r>
                <a:rPr b="1" lang="en" sz="20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Collaborate Across Teams</a:t>
              </a: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9144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Meet regularly to share AI use cases, wins, struggles, questions, and best practices. 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Provide shared space for anyone in Maryland to learn how they can harness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Connect with peers who have the same issues or aspects of AI enablement as you do. 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6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05" name="Google Shape;205;p26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6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26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26"/>
          <p:cNvGrpSpPr/>
          <p:nvPr/>
        </p:nvGrpSpPr>
        <p:grpSpPr>
          <a:xfrm>
            <a:off x="107175" y="366121"/>
            <a:ext cx="8929575" cy="3906444"/>
            <a:chOff x="70750" y="2584454"/>
            <a:chExt cx="17859150" cy="5412086"/>
          </a:xfrm>
        </p:grpSpPr>
        <p:sp>
          <p:nvSpPr>
            <p:cNvPr id="209" name="Google Shape;209;p26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6"/>
            <p:cNvSpPr txBox="1"/>
            <p:nvPr/>
          </p:nvSpPr>
          <p:spPr>
            <a:xfrm>
              <a:off x="70750" y="2781641"/>
              <a:ext cx="178590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fontScale="85000" lnSpcReduction="20000"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8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n" sz="3853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 </a:t>
              </a:r>
              <a:endParaRPr sz="3853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89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2)     </a:t>
              </a:r>
              <a:r>
                <a:rPr b="1" lang="en" sz="2453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Show, Don’t Tell</a:t>
              </a:r>
              <a:r>
                <a:rPr b="1" lang="en" sz="2453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1" sz="2453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3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Host lunch n’ learns to show how Maryland’s civil servants can use enterprise AI tools.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Share AI proofs of concept to demo how your peers use AI.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7885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100000"/>
                <a:buFont typeface="Montserrat Medium"/>
                <a:buChar char="-"/>
              </a:pPr>
              <a:r>
                <a:rPr lang="en" sz="1734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Highlight guest speakers beyond government to share new AI innovations.</a:t>
              </a:r>
              <a:endParaRPr sz="1734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7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20" name="Google Shape;220;p27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7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27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7"/>
          <p:cNvGrpSpPr/>
          <p:nvPr/>
        </p:nvGrpSpPr>
        <p:grpSpPr>
          <a:xfrm>
            <a:off x="107250" y="366121"/>
            <a:ext cx="8929500" cy="3906451"/>
            <a:chOff x="70900" y="2584454"/>
            <a:chExt cx="17859000" cy="5412096"/>
          </a:xfrm>
        </p:grpSpPr>
        <p:sp>
          <p:nvSpPr>
            <p:cNvPr id="224" name="Google Shape;224;p27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7"/>
            <p:cNvSpPr txBox="1"/>
            <p:nvPr/>
          </p:nvSpPr>
          <p:spPr>
            <a:xfrm>
              <a:off x="434650" y="2781650"/>
              <a:ext cx="17131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lnSpcReduction="10000"/>
            </a:bodyPr>
            <a:lstStyle/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MDAI’s Values </a:t>
              </a:r>
              <a:endParaRPr sz="3200">
                <a:solidFill>
                  <a:schemeClr val="dk1"/>
                </a:solidFill>
              </a:endParaRPr>
            </a:p>
            <a:p>
              <a:pPr indent="0" lvl="0" marL="228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3)     </a:t>
              </a:r>
              <a:r>
                <a:rPr b="1" lang="en" sz="2000" u="sng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Provide AI Updates in a Shared Space</a:t>
              </a:r>
              <a:endPara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Share new AI policies, processes, guidance, etc. for state employees to use.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6858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-   Offer blueprints for anyone serving Maryland (city, county, state, etc.) to leverage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-   Provide Maryland’s AIE team as a foundational source for where to start with AI.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8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35" name="Google Shape;235;p28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8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8"/>
          <p:cNvSpPr txBox="1"/>
          <p:nvPr/>
        </p:nvSpPr>
        <p:spPr>
          <a:xfrm>
            <a:off x="125" y="1669669"/>
            <a:ext cx="9144000" cy="25428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Welcoming Maryland’s New AI Advisor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Michael Boyce, DoIT</a:t>
            </a:r>
            <a:endParaRPr b="1" sz="24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9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49" name="Google Shape;249;p29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9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" name="Google Shape;251;p29"/>
          <p:cNvSpPr txBox="1"/>
          <p:nvPr/>
        </p:nvSpPr>
        <p:spPr>
          <a:xfrm>
            <a:off x="125" y="1669669"/>
            <a:ext cx="9144000" cy="25428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MCP Servers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Sachin Bhatt, DoIT</a:t>
            </a:r>
            <a:endParaRPr b="1" sz="24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6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30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62" name="Google Shape;262;p30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30"/>
          <p:cNvGrpSpPr/>
          <p:nvPr/>
        </p:nvGrpSpPr>
        <p:grpSpPr>
          <a:xfrm>
            <a:off x="107250" y="1368438"/>
            <a:ext cx="8929500" cy="2385150"/>
            <a:chOff x="70900" y="2584475"/>
            <a:chExt cx="17859000" cy="4770300"/>
          </a:xfrm>
        </p:grpSpPr>
        <p:sp>
          <p:nvSpPr>
            <p:cNvPr id="265" name="Google Shape;265;p30"/>
            <p:cNvSpPr/>
            <p:nvPr/>
          </p:nvSpPr>
          <p:spPr>
            <a:xfrm>
              <a:off x="70900" y="2584475"/>
              <a:ext cx="17859000" cy="4770300"/>
            </a:xfrm>
            <a:prstGeom prst="roundRect">
              <a:avLst>
                <a:gd fmla="val 6717" name="adj"/>
              </a:avLst>
            </a:prstGeom>
            <a:solidFill>
              <a:srgbClr val="BF12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0"/>
            <p:cNvSpPr txBox="1"/>
            <p:nvPr/>
          </p:nvSpPr>
          <p:spPr>
            <a:xfrm>
              <a:off x="434650" y="3662250"/>
              <a:ext cx="17131500" cy="3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fontScale="92500" lnSpcReduction="20000"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55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MCP servers let AI agents act </a:t>
              </a:r>
              <a:r>
                <a:rPr b="1" lang="en" sz="2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 your behalf</a:t>
              </a:r>
              <a:r>
                <a:rPr b="1" i="0" lang="en" sz="20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— reading files, sending messages, querying databases, and updating records. That power is exactly why Maryland requires review and approval before any MCP server touches a State system.</a:t>
              </a:r>
              <a:endParaRPr b="1" i="0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267" name="Google Shape;267;p30"/>
          <p:cNvSpPr txBox="1"/>
          <p:nvPr/>
        </p:nvSpPr>
        <p:spPr>
          <a:xfrm>
            <a:off x="245125" y="313200"/>
            <a:ext cx="73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36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</a:t>
            </a:r>
            <a:endParaRPr b="1" i="0" sz="3600" u="none" cap="none" strike="noStrike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1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77" name="Google Shape;277;p31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1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31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31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7"/>
          </a:xfrm>
        </p:grpSpPr>
        <p:sp>
          <p:nvSpPr>
            <p:cNvPr id="281" name="Google Shape;281;p31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31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sng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Opportunity</a:t>
              </a:r>
              <a:endParaRPr b="1" i="0" sz="3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Agents that do the task, not just answer questions</a:t>
              </a:r>
              <a:r>
                <a:rPr lang="en" sz="16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(e.g.,</a:t>
              </a: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drafting correspondence, pulling records, updating trackers)</a:t>
              </a:r>
              <a:endParaRPr b="0" i="0" sz="16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Connects AI directly to the tools you already use: email, calendars, databases, and enterprise SaaS</a:t>
              </a:r>
              <a:endParaRPr b="0" i="0" sz="16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Cuts manual, repetitive work so staff can focus on higher-value constituent service</a:t>
              </a:r>
              <a:endParaRPr b="0" i="0" sz="16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 growing, open standard</a:t>
              </a:r>
              <a:r>
                <a:rPr lang="en" sz="16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: </a:t>
              </a:r>
              <a:r>
                <a:rPr b="0" i="0" lang="en" sz="16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new capabilities and integrations are added constantly</a:t>
              </a:r>
              <a:endParaRPr b="0" i="0" sz="16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32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291" name="Google Shape;291;p32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2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" name="Google Shape;293;p32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32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7"/>
          </a:xfrm>
        </p:grpSpPr>
        <p:sp>
          <p:nvSpPr>
            <p:cNvPr id="295" name="Google Shape;295;p32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2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sng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Risk Landscape</a:t>
              </a:r>
              <a:endParaRPr b="1" i="0" sz="3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Often, t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 system can’t tell a human click from an AI acting on your behalf</a:t>
              </a: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.  T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 agent inherits your full authority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Hidden instructions in a document, email, or webpage can hijack an agent’s actions (“prompt injection”)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Many servers still rely on weak</a:t>
              </a: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passwords instead of modern login security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Fake or tampered tools can trick an agent into leaking data or taking unauthorized actions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 ecosystem is new</a:t>
              </a: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.  A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udit trails and incident logging are still catching up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33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05" name="Google Shape;305;p33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33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33"/>
          <p:cNvGrpSpPr/>
          <p:nvPr/>
        </p:nvGrpSpPr>
        <p:grpSpPr>
          <a:xfrm>
            <a:off x="107250" y="1368438"/>
            <a:ext cx="8929500" cy="2385150"/>
            <a:chOff x="70900" y="2584475"/>
            <a:chExt cx="17859000" cy="4770300"/>
          </a:xfrm>
        </p:grpSpPr>
        <p:sp>
          <p:nvSpPr>
            <p:cNvPr id="308" name="Google Shape;308;p33"/>
            <p:cNvSpPr/>
            <p:nvPr/>
          </p:nvSpPr>
          <p:spPr>
            <a:xfrm>
              <a:off x="70900" y="2584475"/>
              <a:ext cx="17859000" cy="4770300"/>
            </a:xfrm>
            <a:prstGeom prst="roundRect">
              <a:avLst>
                <a:gd fmla="val 6717" name="adj"/>
              </a:avLst>
            </a:prstGeom>
            <a:solidFill>
              <a:srgbClr val="BF12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33"/>
            <p:cNvSpPr txBox="1"/>
            <p:nvPr/>
          </p:nvSpPr>
          <p:spPr>
            <a:xfrm>
              <a:off x="434650" y="3662250"/>
              <a:ext cx="17131500" cy="3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fontScale="85000"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57895"/>
                <a:buFont typeface="Arial"/>
                <a:buNone/>
              </a:pPr>
              <a:r>
                <a:rPr b="1" i="0" lang="en" sz="19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MCP server may connect to a State system without review and approval by DoIT’s Office of Security Management. Submit requests through the DoIT Intake Process, copying your agency’s portfolio officer. Installing one on your own — a “shadow” MCP server — is prohibited.</a:t>
              </a:r>
              <a:endParaRPr b="1" i="0" sz="19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10" name="Google Shape;310;p33"/>
          <p:cNvSpPr txBox="1"/>
          <p:nvPr/>
        </p:nvSpPr>
        <p:spPr>
          <a:xfrm>
            <a:off x="245125" y="313200"/>
            <a:ext cx="73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36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Approval Comes First</a:t>
            </a:r>
            <a:endParaRPr b="1" i="0" sz="3600" u="none" cap="none" strike="noStrike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34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20" name="Google Shape;320;p34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34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322;p34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34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7"/>
          </a:xfrm>
        </p:grpSpPr>
        <p:sp>
          <p:nvSpPr>
            <p:cNvPr id="324" name="Google Shape;324;p34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4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sng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How We Vet &amp; Approve Servers</a:t>
              </a:r>
              <a:endParaRPr b="1" i="0" sz="3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Comes from a known, reputable vendor or a verified open-source project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Uses modern, secure login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Code is cryptographically signed, with access scoped to the minimum needed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Every tool use is logged, and data handling matches Maryland’s </a:t>
              </a: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ata </a:t>
              </a:r>
              <a:r>
                <a:rPr lang="en" sz="15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lassification rules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5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Approved servers are listed in DoIT’s registry </a:t>
              </a:r>
              <a:endParaRPr b="0" i="0" sz="15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35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34" name="Google Shape;334;p35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5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6" name="Google Shape;336;p35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35"/>
          <p:cNvGrpSpPr/>
          <p:nvPr/>
        </p:nvGrpSpPr>
        <p:grpSpPr>
          <a:xfrm>
            <a:off x="107250" y="366121"/>
            <a:ext cx="8929500" cy="3906444"/>
            <a:chOff x="70900" y="2584454"/>
            <a:chExt cx="17859000" cy="5412087"/>
          </a:xfrm>
        </p:grpSpPr>
        <p:sp>
          <p:nvSpPr>
            <p:cNvPr id="338" name="Google Shape;338;p35"/>
            <p:cNvSpPr/>
            <p:nvPr/>
          </p:nvSpPr>
          <p:spPr>
            <a:xfrm>
              <a:off x="70900" y="2584454"/>
              <a:ext cx="17859000" cy="52149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5"/>
            <p:cNvSpPr txBox="1"/>
            <p:nvPr/>
          </p:nvSpPr>
          <p:spPr>
            <a:xfrm>
              <a:off x="282250" y="2781641"/>
              <a:ext cx="17647500" cy="521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/>
            </a:bodyPr>
            <a:lstStyle/>
            <a:p>
              <a:pPr indent="0" lvl="0" marL="2286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200" u="sng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Rules of the Road</a:t>
              </a:r>
              <a:endParaRPr b="1" i="0" sz="32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228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Do: use only approved servers, and grant just the access your task needs</a:t>
              </a:r>
              <a:endParaRPr b="0" i="0" sz="1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Do: read confirmation prompts before an agent acts</a:t>
              </a: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; 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decline if anything looks off</a:t>
              </a:r>
              <a:endParaRPr b="0" i="0" sz="1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Don’t: connect a personal MCP server, or share config files that hold credentials</a:t>
              </a:r>
              <a:endParaRPr b="0" i="0" sz="1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</a:t>
              </a: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risk use, such as in 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health, safety, legal rights, or with confidential data,</a:t>
              </a: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needs a formal AI Risk Assessment and named human oversight</a:t>
              </a:r>
              <a:endParaRPr b="0" i="0" sz="1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203200" lvl="2" marL="457200" marR="0" rtl="0" algn="l">
                <a:lnSpc>
                  <a:spcPct val="118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Montserrat Medium"/>
                <a:buChar char="-"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Irreversible actions</a:t>
              </a: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such as </a:t>
              </a:r>
              <a:r>
                <a:rPr b="0" i="0" lang="en" sz="1400" u="none" cap="none" strike="noStrike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deletions, official messages, and database changes always need a human’s OK</a:t>
              </a:r>
              <a:endParaRPr b="0" i="0" sz="14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6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48" name="Google Shape;348;p36"/>
            <p:cNvPicPr preferRelativeResize="0"/>
            <p:nvPr/>
          </p:nvPicPr>
          <p:blipFill rotWithShape="1">
            <a:blip r:embed="rId3">
              <a:alphaModFix amt="16000"/>
            </a:blip>
            <a:srcRect b="0" l="0" r="0" t="0"/>
            <a:stretch/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6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" name="Google Shape;350;p36"/>
          <p:cNvGrpSpPr/>
          <p:nvPr/>
        </p:nvGrpSpPr>
        <p:grpSpPr>
          <a:xfrm>
            <a:off x="107250" y="1368438"/>
            <a:ext cx="8929500" cy="2385150"/>
            <a:chOff x="70900" y="2584475"/>
            <a:chExt cx="17859000" cy="4770300"/>
          </a:xfrm>
        </p:grpSpPr>
        <p:sp>
          <p:nvSpPr>
            <p:cNvPr id="351" name="Google Shape;351;p36"/>
            <p:cNvSpPr/>
            <p:nvPr/>
          </p:nvSpPr>
          <p:spPr>
            <a:xfrm>
              <a:off x="70900" y="2584475"/>
              <a:ext cx="17859000" cy="4770300"/>
            </a:xfrm>
            <a:prstGeom prst="roundRect">
              <a:avLst>
                <a:gd fmla="val 6717" name="adj"/>
              </a:avLst>
            </a:prstGeom>
            <a:solidFill>
              <a:srgbClr val="BF12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6"/>
            <p:cNvSpPr txBox="1"/>
            <p:nvPr/>
          </p:nvSpPr>
          <p:spPr>
            <a:xfrm>
              <a:off x="434650" y="3662250"/>
              <a:ext cx="17131500" cy="3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25" lIns="45725" spcFirstLastPara="1" rIns="45725" wrap="square" tIns="45725">
              <a:normAutofit lnSpcReduction="20000"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can meaningfully lighten the load for every agency — but only through servers that are reviewed, approved, and used with care. Have a server to propose? Contact your portfolio officer or AI@Maryland.gov.</a:t>
              </a:r>
              <a:endParaRPr b="1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353" name="Google Shape;353;p36"/>
          <p:cNvSpPr txBox="1"/>
          <p:nvPr/>
        </p:nvSpPr>
        <p:spPr>
          <a:xfrm>
            <a:off x="245125" y="313200"/>
            <a:ext cx="73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" sz="3600" u="none" cap="none" strike="noStrike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Bottom Line</a:t>
            </a:r>
            <a:endParaRPr b="1" i="0" sz="3600" u="none" cap="none" strike="noStrike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b="0" i="0" sz="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37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364" name="Google Shape;364;p37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37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6" name="Google Shape;366;p37"/>
          <p:cNvSpPr txBox="1"/>
          <p:nvPr/>
        </p:nvSpPr>
        <p:spPr>
          <a:xfrm>
            <a:off x="125" y="1669669"/>
            <a:ext cx="9144000" cy="2586000"/>
          </a:xfrm>
          <a:prstGeom prst="rect">
            <a:avLst/>
          </a:prstGeom>
          <a:noFill/>
          <a:ln>
            <a:noFill/>
          </a:ln>
          <a:effectLst>
            <a:outerShdw rotWithShape="0" algn="bl" dist="9525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[Demo] Using PowerBI’s MCP Server to Create/Query Tables</a:t>
            </a:r>
            <a:endParaRPr b="1" sz="32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BF123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Louis Abonyi, DSCI</a:t>
            </a:r>
            <a:endParaRPr b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BF123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400">
              <a:solidFill>
                <a:srgbClr val="BF123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1403900" y="1356400"/>
            <a:ext cx="6373500" cy="279900"/>
          </a:xfrm>
          <a:prstGeom prst="rightArrow">
            <a:avLst>
              <a:gd fmla="val 50000" name="adj1"/>
              <a:gd fmla="val 92734" name="adj2"/>
            </a:avLst>
          </a:prstGeom>
          <a:solidFill>
            <a:srgbClr val="FFC42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7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8"/>
          <p:cNvGrpSpPr/>
          <p:nvPr/>
        </p:nvGrpSpPr>
        <p:grpSpPr>
          <a:xfrm>
            <a:off x="514350" y="447450"/>
            <a:ext cx="133787" cy="133787"/>
            <a:chOff x="0" y="0"/>
            <a:chExt cx="812800" cy="812800"/>
          </a:xfrm>
        </p:grpSpPr>
        <p:sp>
          <p:nvSpPr>
            <p:cNvPr id="374" name="Google Shape;374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38"/>
          <p:cNvGrpSpPr/>
          <p:nvPr/>
        </p:nvGrpSpPr>
        <p:grpSpPr>
          <a:xfrm>
            <a:off x="742379" y="447450"/>
            <a:ext cx="133787" cy="133787"/>
            <a:chOff x="0" y="0"/>
            <a:chExt cx="812800" cy="812800"/>
          </a:xfrm>
        </p:grpSpPr>
        <p:sp>
          <p:nvSpPr>
            <p:cNvPr id="377" name="Google Shape;377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38"/>
          <p:cNvGrpSpPr/>
          <p:nvPr/>
        </p:nvGrpSpPr>
        <p:grpSpPr>
          <a:xfrm>
            <a:off x="971293" y="447450"/>
            <a:ext cx="133787" cy="133787"/>
            <a:chOff x="0" y="0"/>
            <a:chExt cx="812800" cy="812800"/>
          </a:xfrm>
        </p:grpSpPr>
        <p:sp>
          <p:nvSpPr>
            <p:cNvPr id="380" name="Google Shape;380;p3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38"/>
          <p:cNvGrpSpPr/>
          <p:nvPr/>
        </p:nvGrpSpPr>
        <p:grpSpPr>
          <a:xfrm rot="65996">
            <a:off x="2142103" y="1370626"/>
            <a:ext cx="4468213" cy="1055243"/>
            <a:chOff x="0" y="-38100"/>
            <a:chExt cx="1627583" cy="384381"/>
          </a:xfrm>
        </p:grpSpPr>
        <p:sp>
          <p:nvSpPr>
            <p:cNvPr id="383" name="Google Shape;383;p38"/>
            <p:cNvSpPr/>
            <p:nvPr/>
          </p:nvSpPr>
          <p:spPr>
            <a:xfrm>
              <a:off x="0" y="0"/>
              <a:ext cx="1627583" cy="346281"/>
            </a:xfrm>
            <a:custGeom>
              <a:rect b="b" l="l" r="r" t="t"/>
              <a:pathLst>
                <a:path extrusionOk="0" h="346281" w="1627583">
                  <a:moveTo>
                    <a:pt x="0" y="0"/>
                  </a:moveTo>
                  <a:lnTo>
                    <a:pt x="1627583" y="0"/>
                  </a:lnTo>
                  <a:lnTo>
                    <a:pt x="1627583" y="346281"/>
                  </a:lnTo>
                  <a:lnTo>
                    <a:pt x="0" y="346281"/>
                  </a:lnTo>
                  <a:close/>
                </a:path>
              </a:pathLst>
            </a:custGeom>
            <a:noFill/>
            <a:ln cap="sq" cmpd="sng" w="9525">
              <a:solidFill>
                <a:srgbClr val="00BF6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4" name="Google Shape;384;p38"/>
            <p:cNvSpPr txBox="1"/>
            <p:nvPr/>
          </p:nvSpPr>
          <p:spPr>
            <a:xfrm>
              <a:off x="0" y="-38100"/>
              <a:ext cx="16275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38"/>
          <p:cNvGrpSpPr/>
          <p:nvPr/>
        </p:nvGrpSpPr>
        <p:grpSpPr>
          <a:xfrm rot="66099">
            <a:off x="2941626" y="3588057"/>
            <a:ext cx="3262298" cy="1052596"/>
            <a:chOff x="0" y="-38100"/>
            <a:chExt cx="1718400" cy="554450"/>
          </a:xfrm>
        </p:grpSpPr>
        <p:sp>
          <p:nvSpPr>
            <p:cNvPr id="386" name="Google Shape;386;p38"/>
            <p:cNvSpPr/>
            <p:nvPr/>
          </p:nvSpPr>
          <p:spPr>
            <a:xfrm>
              <a:off x="0" y="0"/>
              <a:ext cx="1718312" cy="516350"/>
            </a:xfrm>
            <a:custGeom>
              <a:rect b="b" l="l" r="r" t="t"/>
              <a:pathLst>
                <a:path extrusionOk="0" h="516350" w="1718312">
                  <a:moveTo>
                    <a:pt x="0" y="0"/>
                  </a:moveTo>
                  <a:lnTo>
                    <a:pt x="1718312" y="0"/>
                  </a:lnTo>
                  <a:lnTo>
                    <a:pt x="1718312" y="516350"/>
                  </a:lnTo>
                  <a:lnTo>
                    <a:pt x="0" y="516350"/>
                  </a:lnTo>
                  <a:close/>
                </a:path>
              </a:pathLst>
            </a:custGeom>
            <a:noFill/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7" name="Google Shape;387;p38"/>
            <p:cNvSpPr txBox="1"/>
            <p:nvPr/>
          </p:nvSpPr>
          <p:spPr>
            <a:xfrm>
              <a:off x="0" y="-38100"/>
              <a:ext cx="1718400" cy="5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38"/>
          <p:cNvSpPr/>
          <p:nvPr/>
        </p:nvSpPr>
        <p:spPr>
          <a:xfrm>
            <a:off x="7527612" y="768145"/>
            <a:ext cx="3030138" cy="2848329"/>
          </a:xfrm>
          <a:custGeom>
            <a:rect b="b" l="l" r="r" t="t"/>
            <a:pathLst>
              <a:path extrusionOk="0" h="5696658" w="6060275">
                <a:moveTo>
                  <a:pt x="0" y="0"/>
                </a:moveTo>
                <a:lnTo>
                  <a:pt x="6060275" y="0"/>
                </a:lnTo>
                <a:lnTo>
                  <a:pt x="6060275" y="5696658"/>
                </a:lnTo>
                <a:lnTo>
                  <a:pt x="0" y="569665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38"/>
          <p:cNvSpPr/>
          <p:nvPr/>
        </p:nvSpPr>
        <p:spPr>
          <a:xfrm rot="-5400000">
            <a:off x="-351824" y="2766543"/>
            <a:ext cx="1637347" cy="2057400"/>
          </a:xfrm>
          <a:custGeom>
            <a:rect b="b" l="l" r="r" t="t"/>
            <a:pathLst>
              <a:path extrusionOk="0" h="4114800" w="3274695">
                <a:moveTo>
                  <a:pt x="0" y="0"/>
                </a:moveTo>
                <a:lnTo>
                  <a:pt x="3274695" y="0"/>
                </a:lnTo>
                <a:lnTo>
                  <a:pt x="32746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grpSp>
        <p:nvGrpSpPr>
          <p:cNvPr id="390" name="Google Shape;390;p38"/>
          <p:cNvGrpSpPr/>
          <p:nvPr/>
        </p:nvGrpSpPr>
        <p:grpSpPr>
          <a:xfrm rot="-197929">
            <a:off x="1289263" y="2441955"/>
            <a:ext cx="6560010" cy="986613"/>
            <a:chOff x="0" y="-38100"/>
            <a:chExt cx="2555762" cy="384381"/>
          </a:xfrm>
        </p:grpSpPr>
        <p:sp>
          <p:nvSpPr>
            <p:cNvPr id="391" name="Google Shape;391;p38"/>
            <p:cNvSpPr/>
            <p:nvPr/>
          </p:nvSpPr>
          <p:spPr>
            <a:xfrm>
              <a:off x="0" y="0"/>
              <a:ext cx="2555762" cy="346281"/>
            </a:xfrm>
            <a:custGeom>
              <a:rect b="b" l="l" r="r" t="t"/>
              <a:pathLst>
                <a:path extrusionOk="0" h="346281" w="2555762">
                  <a:moveTo>
                    <a:pt x="0" y="0"/>
                  </a:moveTo>
                  <a:lnTo>
                    <a:pt x="2555762" y="0"/>
                  </a:lnTo>
                  <a:lnTo>
                    <a:pt x="2555762" y="346281"/>
                  </a:lnTo>
                  <a:lnTo>
                    <a:pt x="0" y="346281"/>
                  </a:lnTo>
                  <a:close/>
                </a:path>
              </a:pathLst>
            </a:custGeom>
            <a:solidFill>
              <a:srgbClr val="FF914D"/>
            </a:solidFill>
            <a:ln cap="sq" cmpd="sng" w="9525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2" name="Google Shape;392;p38"/>
            <p:cNvSpPr txBox="1"/>
            <p:nvPr/>
          </p:nvSpPr>
          <p:spPr>
            <a:xfrm>
              <a:off x="0" y="-38100"/>
              <a:ext cx="25557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3" name="Google Shape;393;p38"/>
          <p:cNvCxnSpPr/>
          <p:nvPr/>
        </p:nvCxnSpPr>
        <p:spPr>
          <a:xfrm>
            <a:off x="1325880" y="509588"/>
            <a:ext cx="5782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38"/>
          <p:cNvSpPr/>
          <p:nvPr/>
        </p:nvSpPr>
        <p:spPr>
          <a:xfrm>
            <a:off x="768728" y="1281725"/>
            <a:ext cx="538928" cy="538928"/>
          </a:xfrm>
          <a:custGeom>
            <a:rect b="b" l="l" r="r" t="t"/>
            <a:pathLst>
              <a:path extrusionOk="0" h="1077857" w="1077857">
                <a:moveTo>
                  <a:pt x="0" y="0"/>
                </a:moveTo>
                <a:lnTo>
                  <a:pt x="1077858" y="0"/>
                </a:lnTo>
                <a:lnTo>
                  <a:pt x="1077858" y="1077857"/>
                </a:lnTo>
                <a:lnTo>
                  <a:pt x="0" y="107785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38"/>
          <p:cNvSpPr txBox="1"/>
          <p:nvPr/>
        </p:nvSpPr>
        <p:spPr>
          <a:xfrm rot="68478">
            <a:off x="2142915" y="1782474"/>
            <a:ext cx="4473287" cy="323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</a:t>
            </a:r>
            <a:endParaRPr sz="700"/>
          </a:p>
        </p:txBody>
      </p:sp>
      <p:sp>
        <p:nvSpPr>
          <p:cNvPr id="396" name="Google Shape;396;p38"/>
          <p:cNvSpPr txBox="1"/>
          <p:nvPr/>
        </p:nvSpPr>
        <p:spPr>
          <a:xfrm rot="68586">
            <a:off x="3082699" y="3776661"/>
            <a:ext cx="2977493" cy="818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⚡ Local &amp; Remote MCP  </a:t>
            </a:r>
            <a:endParaRPr b="0" i="0" sz="1400" u="none" cap="none" strike="noStrike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🔄 Automated DAX Generation  📈 10x Developer Productivity</a:t>
            </a:r>
            <a:endParaRPr sz="700"/>
          </a:p>
        </p:txBody>
      </p:sp>
      <p:sp>
        <p:nvSpPr>
          <p:cNvPr id="397" name="Google Shape;397;p38"/>
          <p:cNvSpPr txBox="1"/>
          <p:nvPr/>
        </p:nvSpPr>
        <p:spPr>
          <a:xfrm>
            <a:off x="7319963" y="414338"/>
            <a:ext cx="1309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Briefing</a:t>
            </a:r>
            <a:endParaRPr sz="700"/>
          </a:p>
        </p:txBody>
      </p:sp>
      <p:sp>
        <p:nvSpPr>
          <p:cNvPr id="398" name="Google Shape;398;p38"/>
          <p:cNvSpPr txBox="1"/>
          <p:nvPr/>
        </p:nvSpPr>
        <p:spPr>
          <a:xfrm rot="-198342">
            <a:off x="1344002" y="2540746"/>
            <a:ext cx="6446026" cy="886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CONNECTING AI "BRAINS" TO YOUR SEMANTIC DATA "HANDS"</a:t>
            </a:r>
            <a:endParaRPr sz="200"/>
          </a:p>
        </p:txBody>
      </p:sp>
      <p:pic>
        <p:nvPicPr>
          <p:cNvPr id="399" name="Google Shape;39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0093" y="3439966"/>
            <a:ext cx="212862" cy="169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39"/>
          <p:cNvGrpSpPr/>
          <p:nvPr/>
        </p:nvGrpSpPr>
        <p:grpSpPr>
          <a:xfrm rot="65949">
            <a:off x="1388320" y="922584"/>
            <a:ext cx="2343029" cy="579100"/>
            <a:chOff x="0" y="-38100"/>
            <a:chExt cx="1555200" cy="384381"/>
          </a:xfrm>
        </p:grpSpPr>
        <p:sp>
          <p:nvSpPr>
            <p:cNvPr id="405" name="Google Shape;405;p39"/>
            <p:cNvSpPr/>
            <p:nvPr/>
          </p:nvSpPr>
          <p:spPr>
            <a:xfrm>
              <a:off x="0" y="0"/>
              <a:ext cx="1555120" cy="346281"/>
            </a:xfrm>
            <a:custGeom>
              <a:rect b="b" l="l" r="r" t="t"/>
              <a:pathLst>
                <a:path extrusionOk="0" h="346281" w="1555120">
                  <a:moveTo>
                    <a:pt x="0" y="0"/>
                  </a:moveTo>
                  <a:lnTo>
                    <a:pt x="1555120" y="0"/>
                  </a:lnTo>
                  <a:lnTo>
                    <a:pt x="1555120" y="346281"/>
                  </a:lnTo>
                  <a:lnTo>
                    <a:pt x="0" y="346281"/>
                  </a:lnTo>
                  <a:close/>
                </a:path>
              </a:pathLst>
            </a:custGeom>
            <a:noFill/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6" name="Google Shape;406;p39"/>
            <p:cNvSpPr txBox="1"/>
            <p:nvPr/>
          </p:nvSpPr>
          <p:spPr>
            <a:xfrm>
              <a:off x="0" y="-38100"/>
              <a:ext cx="15552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39"/>
          <p:cNvGrpSpPr/>
          <p:nvPr/>
        </p:nvGrpSpPr>
        <p:grpSpPr>
          <a:xfrm rot="-198046">
            <a:off x="885723" y="1510467"/>
            <a:ext cx="3559853" cy="541415"/>
            <a:chOff x="0" y="-38100"/>
            <a:chExt cx="2527341" cy="384381"/>
          </a:xfrm>
        </p:grpSpPr>
        <p:sp>
          <p:nvSpPr>
            <p:cNvPr id="408" name="Google Shape;408;p39"/>
            <p:cNvSpPr/>
            <p:nvPr/>
          </p:nvSpPr>
          <p:spPr>
            <a:xfrm>
              <a:off x="0" y="0"/>
              <a:ext cx="2527341" cy="346281"/>
            </a:xfrm>
            <a:custGeom>
              <a:rect b="b" l="l" r="r" t="t"/>
              <a:pathLst>
                <a:path extrusionOk="0" h="346281" w="2527341">
                  <a:moveTo>
                    <a:pt x="0" y="0"/>
                  </a:moveTo>
                  <a:lnTo>
                    <a:pt x="2527341" y="0"/>
                  </a:lnTo>
                  <a:lnTo>
                    <a:pt x="2527341" y="346281"/>
                  </a:lnTo>
                  <a:lnTo>
                    <a:pt x="0" y="346281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409" name="Google Shape;409;p39"/>
            <p:cNvSpPr txBox="1"/>
            <p:nvPr/>
          </p:nvSpPr>
          <p:spPr>
            <a:xfrm>
              <a:off x="0" y="-38100"/>
              <a:ext cx="25272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39"/>
          <p:cNvGrpSpPr/>
          <p:nvPr/>
        </p:nvGrpSpPr>
        <p:grpSpPr>
          <a:xfrm>
            <a:off x="514350" y="447450"/>
            <a:ext cx="133787" cy="133787"/>
            <a:chOff x="0" y="0"/>
            <a:chExt cx="812800" cy="812800"/>
          </a:xfrm>
        </p:grpSpPr>
        <p:sp>
          <p:nvSpPr>
            <p:cNvPr id="411" name="Google Shape;411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39"/>
          <p:cNvGrpSpPr/>
          <p:nvPr/>
        </p:nvGrpSpPr>
        <p:grpSpPr>
          <a:xfrm>
            <a:off x="742379" y="447450"/>
            <a:ext cx="133787" cy="133787"/>
            <a:chOff x="0" y="0"/>
            <a:chExt cx="812800" cy="812800"/>
          </a:xfrm>
        </p:grpSpPr>
        <p:sp>
          <p:nvSpPr>
            <p:cNvPr id="414" name="Google Shape;414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6" name="Google Shape;416;p39"/>
          <p:cNvGrpSpPr/>
          <p:nvPr/>
        </p:nvGrpSpPr>
        <p:grpSpPr>
          <a:xfrm>
            <a:off x="971293" y="447450"/>
            <a:ext cx="133787" cy="133787"/>
            <a:chOff x="0" y="0"/>
            <a:chExt cx="812800" cy="812800"/>
          </a:xfrm>
        </p:grpSpPr>
        <p:sp>
          <p:nvSpPr>
            <p:cNvPr id="417" name="Google Shape;417;p3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9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9" name="Google Shape;419;p39"/>
          <p:cNvCxnSpPr/>
          <p:nvPr/>
        </p:nvCxnSpPr>
        <p:spPr>
          <a:xfrm>
            <a:off x="1325880" y="509588"/>
            <a:ext cx="5782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0" name="Google Shape;420;p39"/>
          <p:cNvGrpSpPr/>
          <p:nvPr/>
        </p:nvGrpSpPr>
        <p:grpSpPr>
          <a:xfrm>
            <a:off x="5243576" y="1201993"/>
            <a:ext cx="183544" cy="183544"/>
            <a:chOff x="-45" y="-12790"/>
            <a:chExt cx="489451" cy="489451"/>
          </a:xfrm>
        </p:grpSpPr>
        <p:grpSp>
          <p:nvGrpSpPr>
            <p:cNvPr id="421" name="Google Shape;421;p39"/>
            <p:cNvGrpSpPr/>
            <p:nvPr/>
          </p:nvGrpSpPr>
          <p:grpSpPr>
            <a:xfrm>
              <a:off x="0" y="261084"/>
              <a:ext cx="161340" cy="176462"/>
              <a:chOff x="0" y="-38100"/>
              <a:chExt cx="406500" cy="444600"/>
            </a:xfrm>
          </p:grpSpPr>
          <p:sp>
            <p:nvSpPr>
              <p:cNvPr id="422" name="Google Shape;422;p39"/>
              <p:cNvSpPr/>
              <p:nvPr/>
            </p:nvSpPr>
            <p:spPr>
              <a:xfrm>
                <a:off x="0" y="0"/>
                <a:ext cx="406400" cy="406400"/>
              </a:xfrm>
              <a:custGeom>
                <a:rect b="b" l="l" r="r" t="t"/>
                <a:pathLst>
                  <a:path extrusionOk="0"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00BF6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9"/>
              <p:cNvSpPr txBox="1"/>
              <p:nvPr/>
            </p:nvSpPr>
            <p:spPr>
              <a:xfrm>
                <a:off x="0" y="-38100"/>
                <a:ext cx="4065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39"/>
            <p:cNvGrpSpPr/>
            <p:nvPr/>
          </p:nvGrpSpPr>
          <p:grpSpPr>
            <a:xfrm rot="2700000">
              <a:off x="4124" y="126398"/>
              <a:ext cx="481113" cy="211075"/>
              <a:chOff x="0" y="-38100"/>
              <a:chExt cx="1013400" cy="444600"/>
            </a:xfrm>
          </p:grpSpPr>
          <p:sp>
            <p:nvSpPr>
              <p:cNvPr id="425" name="Google Shape;425;p39"/>
              <p:cNvSpPr/>
              <p:nvPr/>
            </p:nvSpPr>
            <p:spPr>
              <a:xfrm>
                <a:off x="0" y="0"/>
                <a:ext cx="1013335" cy="406400"/>
              </a:xfrm>
              <a:custGeom>
                <a:rect b="b" l="l" r="r" t="t"/>
                <a:pathLst>
                  <a:path extrusionOk="0" h="406400" w="1013335">
                    <a:moveTo>
                      <a:pt x="810135" y="0"/>
                    </a:moveTo>
                    <a:cubicBezTo>
                      <a:pt x="922360" y="0"/>
                      <a:pt x="1013335" y="90976"/>
                      <a:pt x="1013335" y="203200"/>
                    </a:cubicBezTo>
                    <a:cubicBezTo>
                      <a:pt x="1013335" y="315424"/>
                      <a:pt x="922360" y="406400"/>
                      <a:pt x="8101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FF914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39"/>
              <p:cNvSpPr txBox="1"/>
              <p:nvPr/>
            </p:nvSpPr>
            <p:spPr>
              <a:xfrm>
                <a:off x="0" y="-38100"/>
                <a:ext cx="10134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39"/>
          <p:cNvGrpSpPr/>
          <p:nvPr/>
        </p:nvGrpSpPr>
        <p:grpSpPr>
          <a:xfrm>
            <a:off x="1079329" y="3533378"/>
            <a:ext cx="60528" cy="66201"/>
            <a:chOff x="0" y="-38100"/>
            <a:chExt cx="406500" cy="444600"/>
          </a:xfrm>
        </p:grpSpPr>
        <p:sp>
          <p:nvSpPr>
            <p:cNvPr id="428" name="Google Shape;428;p39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 txBox="1"/>
            <p:nvPr/>
          </p:nvSpPr>
          <p:spPr>
            <a:xfrm>
              <a:off x="0" y="-38100"/>
              <a:ext cx="406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39"/>
          <p:cNvGrpSpPr/>
          <p:nvPr/>
        </p:nvGrpSpPr>
        <p:grpSpPr>
          <a:xfrm rot="2700000">
            <a:off x="1080870" y="3482878"/>
            <a:ext cx="180435" cy="79161"/>
            <a:chOff x="0" y="-38100"/>
            <a:chExt cx="1013400" cy="444600"/>
          </a:xfrm>
        </p:grpSpPr>
        <p:sp>
          <p:nvSpPr>
            <p:cNvPr id="431" name="Google Shape;431;p39"/>
            <p:cNvSpPr/>
            <p:nvPr/>
          </p:nvSpPr>
          <p:spPr>
            <a:xfrm>
              <a:off x="0" y="0"/>
              <a:ext cx="1013335" cy="406400"/>
            </a:xfrm>
            <a:custGeom>
              <a:rect b="b" l="l" r="r" t="t"/>
              <a:pathLst>
                <a:path extrusionOk="0" h="406400" w="1013335">
                  <a:moveTo>
                    <a:pt x="810135" y="0"/>
                  </a:moveTo>
                  <a:cubicBezTo>
                    <a:pt x="922360" y="0"/>
                    <a:pt x="1013335" y="90976"/>
                    <a:pt x="1013335" y="203200"/>
                  </a:cubicBezTo>
                  <a:cubicBezTo>
                    <a:pt x="1013335" y="315424"/>
                    <a:pt x="922360" y="406400"/>
                    <a:pt x="8101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9"/>
            <p:cNvSpPr txBox="1"/>
            <p:nvPr/>
          </p:nvSpPr>
          <p:spPr>
            <a:xfrm>
              <a:off x="0" y="-38100"/>
              <a:ext cx="10134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39"/>
          <p:cNvGrpSpPr/>
          <p:nvPr/>
        </p:nvGrpSpPr>
        <p:grpSpPr>
          <a:xfrm>
            <a:off x="5243576" y="1486697"/>
            <a:ext cx="183544" cy="183544"/>
            <a:chOff x="-45" y="-12790"/>
            <a:chExt cx="489451" cy="489451"/>
          </a:xfrm>
        </p:grpSpPr>
        <p:grpSp>
          <p:nvGrpSpPr>
            <p:cNvPr id="434" name="Google Shape;434;p39"/>
            <p:cNvGrpSpPr/>
            <p:nvPr/>
          </p:nvGrpSpPr>
          <p:grpSpPr>
            <a:xfrm>
              <a:off x="0" y="261084"/>
              <a:ext cx="161340" cy="176462"/>
              <a:chOff x="0" y="-38100"/>
              <a:chExt cx="406500" cy="444600"/>
            </a:xfrm>
          </p:grpSpPr>
          <p:sp>
            <p:nvSpPr>
              <p:cNvPr id="435" name="Google Shape;435;p39"/>
              <p:cNvSpPr/>
              <p:nvPr/>
            </p:nvSpPr>
            <p:spPr>
              <a:xfrm>
                <a:off x="0" y="0"/>
                <a:ext cx="406400" cy="406400"/>
              </a:xfrm>
              <a:custGeom>
                <a:rect b="b" l="l" r="r" t="t"/>
                <a:pathLst>
                  <a:path extrusionOk="0"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00BF6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9"/>
              <p:cNvSpPr txBox="1"/>
              <p:nvPr/>
            </p:nvSpPr>
            <p:spPr>
              <a:xfrm>
                <a:off x="0" y="-38100"/>
                <a:ext cx="4065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39"/>
            <p:cNvGrpSpPr/>
            <p:nvPr/>
          </p:nvGrpSpPr>
          <p:grpSpPr>
            <a:xfrm rot="2700000">
              <a:off x="4124" y="126398"/>
              <a:ext cx="481113" cy="211075"/>
              <a:chOff x="0" y="-38100"/>
              <a:chExt cx="1013400" cy="444600"/>
            </a:xfrm>
          </p:grpSpPr>
          <p:sp>
            <p:nvSpPr>
              <p:cNvPr id="438" name="Google Shape;438;p39"/>
              <p:cNvSpPr/>
              <p:nvPr/>
            </p:nvSpPr>
            <p:spPr>
              <a:xfrm>
                <a:off x="0" y="0"/>
                <a:ext cx="1013335" cy="406400"/>
              </a:xfrm>
              <a:custGeom>
                <a:rect b="b" l="l" r="r" t="t"/>
                <a:pathLst>
                  <a:path extrusionOk="0" h="406400" w="1013335">
                    <a:moveTo>
                      <a:pt x="810135" y="0"/>
                    </a:moveTo>
                    <a:cubicBezTo>
                      <a:pt x="922360" y="0"/>
                      <a:pt x="1013335" y="90976"/>
                      <a:pt x="1013335" y="203200"/>
                    </a:cubicBezTo>
                    <a:cubicBezTo>
                      <a:pt x="1013335" y="315424"/>
                      <a:pt x="922360" y="406400"/>
                      <a:pt x="8101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FF914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9"/>
              <p:cNvSpPr txBox="1"/>
              <p:nvPr/>
            </p:nvSpPr>
            <p:spPr>
              <a:xfrm>
                <a:off x="0" y="-38100"/>
                <a:ext cx="10134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0" name="Google Shape;440;p39"/>
          <p:cNvGrpSpPr/>
          <p:nvPr/>
        </p:nvGrpSpPr>
        <p:grpSpPr>
          <a:xfrm>
            <a:off x="1079329" y="3920946"/>
            <a:ext cx="60528" cy="66201"/>
            <a:chOff x="0" y="-38100"/>
            <a:chExt cx="406500" cy="444600"/>
          </a:xfrm>
        </p:grpSpPr>
        <p:sp>
          <p:nvSpPr>
            <p:cNvPr id="441" name="Google Shape;441;p39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9"/>
            <p:cNvSpPr txBox="1"/>
            <p:nvPr/>
          </p:nvSpPr>
          <p:spPr>
            <a:xfrm>
              <a:off x="0" y="-38100"/>
              <a:ext cx="406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39"/>
          <p:cNvGrpSpPr/>
          <p:nvPr/>
        </p:nvGrpSpPr>
        <p:grpSpPr>
          <a:xfrm rot="2700000">
            <a:off x="1080870" y="3870446"/>
            <a:ext cx="180435" cy="79161"/>
            <a:chOff x="0" y="-38100"/>
            <a:chExt cx="1013400" cy="444600"/>
          </a:xfrm>
        </p:grpSpPr>
        <p:sp>
          <p:nvSpPr>
            <p:cNvPr id="444" name="Google Shape;444;p39"/>
            <p:cNvSpPr/>
            <p:nvPr/>
          </p:nvSpPr>
          <p:spPr>
            <a:xfrm>
              <a:off x="0" y="0"/>
              <a:ext cx="1013335" cy="406400"/>
            </a:xfrm>
            <a:custGeom>
              <a:rect b="b" l="l" r="r" t="t"/>
              <a:pathLst>
                <a:path extrusionOk="0" h="406400" w="1013335">
                  <a:moveTo>
                    <a:pt x="810135" y="0"/>
                  </a:moveTo>
                  <a:cubicBezTo>
                    <a:pt x="922360" y="0"/>
                    <a:pt x="1013335" y="90976"/>
                    <a:pt x="1013335" y="203200"/>
                  </a:cubicBezTo>
                  <a:cubicBezTo>
                    <a:pt x="1013335" y="315424"/>
                    <a:pt x="922360" y="406400"/>
                    <a:pt x="8101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9"/>
            <p:cNvSpPr txBox="1"/>
            <p:nvPr/>
          </p:nvSpPr>
          <p:spPr>
            <a:xfrm>
              <a:off x="0" y="-38100"/>
              <a:ext cx="10134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39"/>
          <p:cNvGrpSpPr/>
          <p:nvPr/>
        </p:nvGrpSpPr>
        <p:grpSpPr>
          <a:xfrm>
            <a:off x="5243576" y="1881120"/>
            <a:ext cx="183544" cy="183544"/>
            <a:chOff x="-45" y="-12790"/>
            <a:chExt cx="489451" cy="489451"/>
          </a:xfrm>
        </p:grpSpPr>
        <p:grpSp>
          <p:nvGrpSpPr>
            <p:cNvPr id="447" name="Google Shape;447;p39"/>
            <p:cNvGrpSpPr/>
            <p:nvPr/>
          </p:nvGrpSpPr>
          <p:grpSpPr>
            <a:xfrm>
              <a:off x="0" y="261084"/>
              <a:ext cx="161340" cy="176462"/>
              <a:chOff x="0" y="-38100"/>
              <a:chExt cx="406500" cy="444600"/>
            </a:xfrm>
          </p:grpSpPr>
          <p:sp>
            <p:nvSpPr>
              <p:cNvPr id="448" name="Google Shape;448;p39"/>
              <p:cNvSpPr/>
              <p:nvPr/>
            </p:nvSpPr>
            <p:spPr>
              <a:xfrm>
                <a:off x="0" y="0"/>
                <a:ext cx="406400" cy="406400"/>
              </a:xfrm>
              <a:custGeom>
                <a:rect b="b" l="l" r="r" t="t"/>
                <a:pathLst>
                  <a:path extrusionOk="0"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00BF6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39"/>
              <p:cNvSpPr txBox="1"/>
              <p:nvPr/>
            </p:nvSpPr>
            <p:spPr>
              <a:xfrm>
                <a:off x="0" y="-38100"/>
                <a:ext cx="4065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0" name="Google Shape;450;p39"/>
            <p:cNvGrpSpPr/>
            <p:nvPr/>
          </p:nvGrpSpPr>
          <p:grpSpPr>
            <a:xfrm rot="2700000">
              <a:off x="4124" y="126398"/>
              <a:ext cx="481113" cy="211075"/>
              <a:chOff x="0" y="-38100"/>
              <a:chExt cx="1013400" cy="444600"/>
            </a:xfrm>
          </p:grpSpPr>
          <p:sp>
            <p:nvSpPr>
              <p:cNvPr id="451" name="Google Shape;451;p39"/>
              <p:cNvSpPr/>
              <p:nvPr/>
            </p:nvSpPr>
            <p:spPr>
              <a:xfrm>
                <a:off x="0" y="0"/>
                <a:ext cx="1013335" cy="406400"/>
              </a:xfrm>
              <a:custGeom>
                <a:rect b="b" l="l" r="r" t="t"/>
                <a:pathLst>
                  <a:path extrusionOk="0" h="406400" w="1013335">
                    <a:moveTo>
                      <a:pt x="810135" y="0"/>
                    </a:moveTo>
                    <a:cubicBezTo>
                      <a:pt x="922360" y="0"/>
                      <a:pt x="1013335" y="90976"/>
                      <a:pt x="1013335" y="203200"/>
                    </a:cubicBezTo>
                    <a:cubicBezTo>
                      <a:pt x="1013335" y="315424"/>
                      <a:pt x="922360" y="406400"/>
                      <a:pt x="8101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FF914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9"/>
              <p:cNvSpPr txBox="1"/>
              <p:nvPr/>
            </p:nvSpPr>
            <p:spPr>
              <a:xfrm>
                <a:off x="0" y="-38100"/>
                <a:ext cx="10134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" name="Google Shape;453;p39"/>
          <p:cNvGrpSpPr/>
          <p:nvPr/>
        </p:nvGrpSpPr>
        <p:grpSpPr>
          <a:xfrm>
            <a:off x="1079329" y="4310330"/>
            <a:ext cx="60528" cy="66201"/>
            <a:chOff x="0" y="-38100"/>
            <a:chExt cx="406500" cy="444600"/>
          </a:xfrm>
        </p:grpSpPr>
        <p:sp>
          <p:nvSpPr>
            <p:cNvPr id="454" name="Google Shape;454;p39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9"/>
            <p:cNvSpPr txBox="1"/>
            <p:nvPr/>
          </p:nvSpPr>
          <p:spPr>
            <a:xfrm>
              <a:off x="0" y="-38100"/>
              <a:ext cx="406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39"/>
          <p:cNvGrpSpPr/>
          <p:nvPr/>
        </p:nvGrpSpPr>
        <p:grpSpPr>
          <a:xfrm rot="2700000">
            <a:off x="1080870" y="4259830"/>
            <a:ext cx="180435" cy="79161"/>
            <a:chOff x="0" y="-38100"/>
            <a:chExt cx="1013400" cy="444600"/>
          </a:xfrm>
        </p:grpSpPr>
        <p:sp>
          <p:nvSpPr>
            <p:cNvPr id="457" name="Google Shape;457;p39"/>
            <p:cNvSpPr/>
            <p:nvPr/>
          </p:nvSpPr>
          <p:spPr>
            <a:xfrm>
              <a:off x="0" y="0"/>
              <a:ext cx="1013335" cy="406400"/>
            </a:xfrm>
            <a:custGeom>
              <a:rect b="b" l="l" r="r" t="t"/>
              <a:pathLst>
                <a:path extrusionOk="0" h="406400" w="1013335">
                  <a:moveTo>
                    <a:pt x="810135" y="0"/>
                  </a:moveTo>
                  <a:cubicBezTo>
                    <a:pt x="922360" y="0"/>
                    <a:pt x="1013335" y="90976"/>
                    <a:pt x="1013335" y="203200"/>
                  </a:cubicBezTo>
                  <a:cubicBezTo>
                    <a:pt x="1013335" y="315424"/>
                    <a:pt x="922360" y="406400"/>
                    <a:pt x="81013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F5F7"/>
            </a:solidFill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9"/>
            <p:cNvSpPr txBox="1"/>
            <p:nvPr/>
          </p:nvSpPr>
          <p:spPr>
            <a:xfrm>
              <a:off x="0" y="-38100"/>
              <a:ext cx="10134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75" lIns="17675" spcFirstLastPara="1" rIns="17675" wrap="square" tIns="176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39"/>
          <p:cNvGrpSpPr/>
          <p:nvPr/>
        </p:nvGrpSpPr>
        <p:grpSpPr>
          <a:xfrm>
            <a:off x="5243576" y="2277359"/>
            <a:ext cx="183544" cy="183544"/>
            <a:chOff x="-45" y="-12790"/>
            <a:chExt cx="489451" cy="489451"/>
          </a:xfrm>
        </p:grpSpPr>
        <p:grpSp>
          <p:nvGrpSpPr>
            <p:cNvPr id="460" name="Google Shape;460;p39"/>
            <p:cNvGrpSpPr/>
            <p:nvPr/>
          </p:nvGrpSpPr>
          <p:grpSpPr>
            <a:xfrm>
              <a:off x="0" y="261084"/>
              <a:ext cx="161340" cy="176462"/>
              <a:chOff x="0" y="-38100"/>
              <a:chExt cx="406500" cy="444600"/>
            </a:xfrm>
          </p:grpSpPr>
          <p:sp>
            <p:nvSpPr>
              <p:cNvPr id="461" name="Google Shape;461;p39"/>
              <p:cNvSpPr/>
              <p:nvPr/>
            </p:nvSpPr>
            <p:spPr>
              <a:xfrm>
                <a:off x="0" y="0"/>
                <a:ext cx="406400" cy="406400"/>
              </a:xfrm>
              <a:custGeom>
                <a:rect b="b" l="l" r="r" t="t"/>
                <a:pathLst>
                  <a:path extrusionOk="0" h="406400" w="406400">
                    <a:moveTo>
                      <a:pt x="203200" y="0"/>
                    </a:moveTo>
                    <a:cubicBezTo>
                      <a:pt x="315424" y="0"/>
                      <a:pt x="406400" y="90976"/>
                      <a:pt x="406400" y="203200"/>
                    </a:cubicBezTo>
                    <a:cubicBezTo>
                      <a:pt x="406400" y="315424"/>
                      <a:pt x="315424" y="406400"/>
                      <a:pt x="203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00BF6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39"/>
              <p:cNvSpPr txBox="1"/>
              <p:nvPr/>
            </p:nvSpPr>
            <p:spPr>
              <a:xfrm>
                <a:off x="0" y="-38100"/>
                <a:ext cx="4065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3" name="Google Shape;463;p39"/>
            <p:cNvGrpSpPr/>
            <p:nvPr/>
          </p:nvGrpSpPr>
          <p:grpSpPr>
            <a:xfrm rot="2700000">
              <a:off x="4124" y="126398"/>
              <a:ext cx="481113" cy="211075"/>
              <a:chOff x="0" y="-38100"/>
              <a:chExt cx="1013400" cy="444600"/>
            </a:xfrm>
          </p:grpSpPr>
          <p:sp>
            <p:nvSpPr>
              <p:cNvPr id="464" name="Google Shape;464;p39"/>
              <p:cNvSpPr/>
              <p:nvPr/>
            </p:nvSpPr>
            <p:spPr>
              <a:xfrm>
                <a:off x="0" y="0"/>
                <a:ext cx="1013335" cy="406400"/>
              </a:xfrm>
              <a:custGeom>
                <a:rect b="b" l="l" r="r" t="t"/>
                <a:pathLst>
                  <a:path extrusionOk="0" h="406400" w="1013335">
                    <a:moveTo>
                      <a:pt x="810135" y="0"/>
                    </a:moveTo>
                    <a:cubicBezTo>
                      <a:pt x="922360" y="0"/>
                      <a:pt x="1013335" y="90976"/>
                      <a:pt x="1013335" y="203200"/>
                    </a:cubicBezTo>
                    <a:cubicBezTo>
                      <a:pt x="1013335" y="315424"/>
                      <a:pt x="922360" y="406400"/>
                      <a:pt x="810135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4F5F7"/>
              </a:solidFill>
              <a:ln cap="sq" cmpd="sng" w="9525">
                <a:solidFill>
                  <a:srgbClr val="FF914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39"/>
              <p:cNvSpPr txBox="1"/>
              <p:nvPr/>
            </p:nvSpPr>
            <p:spPr>
              <a:xfrm>
                <a:off x="0" y="-38100"/>
                <a:ext cx="10134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6" name="Google Shape;466;p39"/>
          <p:cNvSpPr/>
          <p:nvPr/>
        </p:nvSpPr>
        <p:spPr>
          <a:xfrm rot="-5400000">
            <a:off x="7624978" y="2491660"/>
            <a:ext cx="2037370" cy="2403976"/>
          </a:xfrm>
          <a:custGeom>
            <a:rect b="b" l="l" r="r" t="t"/>
            <a:pathLst>
              <a:path extrusionOk="0" h="4807951" w="4074739">
                <a:moveTo>
                  <a:pt x="0" y="0"/>
                </a:moveTo>
                <a:lnTo>
                  <a:pt x="4074739" y="0"/>
                </a:lnTo>
                <a:lnTo>
                  <a:pt x="4074739" y="4807951"/>
                </a:lnTo>
                <a:lnTo>
                  <a:pt x="0" y="48079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7" name="Google Shape;467;p39"/>
          <p:cNvGrpSpPr/>
          <p:nvPr/>
        </p:nvGrpSpPr>
        <p:grpSpPr>
          <a:xfrm rot="220228">
            <a:off x="5226756" y="2753921"/>
            <a:ext cx="2738670" cy="1972162"/>
            <a:chOff x="0" y="-1016"/>
            <a:chExt cx="3136392" cy="2258568"/>
          </a:xfrm>
        </p:grpSpPr>
        <p:sp>
          <p:nvSpPr>
            <p:cNvPr id="468" name="Google Shape;468;p39"/>
            <p:cNvSpPr/>
            <p:nvPr/>
          </p:nvSpPr>
          <p:spPr>
            <a:xfrm>
              <a:off x="114300" y="125984"/>
              <a:ext cx="2882900" cy="1993900"/>
            </a:xfrm>
            <a:custGeom>
              <a:rect b="b" l="l" r="r" t="t"/>
              <a:pathLst>
                <a:path extrusionOk="0"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600" l="0" r="0" t="-610"/>
              </a:stretch>
            </a:blipFill>
            <a:ln>
              <a:noFill/>
            </a:ln>
          </p:spPr>
        </p:sp>
        <p:sp>
          <p:nvSpPr>
            <p:cNvPr id="469" name="Google Shape;469;p39"/>
            <p:cNvSpPr/>
            <p:nvPr/>
          </p:nvSpPr>
          <p:spPr>
            <a:xfrm>
              <a:off x="0" y="-1016"/>
              <a:ext cx="3136392" cy="2258568"/>
            </a:xfrm>
            <a:custGeom>
              <a:rect b="b" l="l" r="r" t="t"/>
              <a:pathLst>
                <a:path extrusionOk="0"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10" r="-10" t="0"/>
              </a:stretch>
            </a:blipFill>
            <a:ln>
              <a:noFill/>
            </a:ln>
          </p:spPr>
        </p:sp>
      </p:grpSp>
      <p:sp>
        <p:nvSpPr>
          <p:cNvPr id="470" name="Google Shape;470;p39"/>
          <p:cNvSpPr/>
          <p:nvPr/>
        </p:nvSpPr>
        <p:spPr>
          <a:xfrm>
            <a:off x="6271335" y="4297631"/>
            <a:ext cx="412833" cy="411727"/>
          </a:xfrm>
          <a:custGeom>
            <a:rect b="b" l="l" r="r" t="t"/>
            <a:pathLst>
              <a:path extrusionOk="0" h="823454" w="825667">
                <a:moveTo>
                  <a:pt x="0" y="0"/>
                </a:moveTo>
                <a:lnTo>
                  <a:pt x="825668" y="0"/>
                </a:lnTo>
                <a:lnTo>
                  <a:pt x="825668" y="823454"/>
                </a:lnTo>
                <a:lnTo>
                  <a:pt x="0" y="823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39"/>
          <p:cNvSpPr/>
          <p:nvPr/>
        </p:nvSpPr>
        <p:spPr>
          <a:xfrm>
            <a:off x="98333" y="3451761"/>
            <a:ext cx="16917" cy="1691739"/>
          </a:xfrm>
          <a:custGeom>
            <a:rect b="b" l="l" r="r" t="t"/>
            <a:pathLst>
              <a:path extrusionOk="0" h="3383478" w="33835">
                <a:moveTo>
                  <a:pt x="0" y="0"/>
                </a:moveTo>
                <a:lnTo>
                  <a:pt x="33834" y="0"/>
                </a:lnTo>
                <a:lnTo>
                  <a:pt x="33834" y="3383478"/>
                </a:lnTo>
                <a:lnTo>
                  <a:pt x="0" y="3383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BD152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472" name="Google Shape;472;p39"/>
          <p:cNvSpPr txBox="1"/>
          <p:nvPr/>
        </p:nvSpPr>
        <p:spPr>
          <a:xfrm rot="68406">
            <a:off x="1498281" y="1125614"/>
            <a:ext cx="2125921" cy="230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AI Brain</a:t>
            </a:r>
            <a:endParaRPr sz="700"/>
          </a:p>
        </p:txBody>
      </p:sp>
      <p:sp>
        <p:nvSpPr>
          <p:cNvPr id="473" name="Google Shape;473;p39"/>
          <p:cNvSpPr txBox="1"/>
          <p:nvPr/>
        </p:nvSpPr>
        <p:spPr>
          <a:xfrm>
            <a:off x="1038225" y="2265487"/>
            <a:ext cx="33291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Advanced LLMs (</a:t>
            </a:r>
            <a:r>
              <a:rPr lang="en" sz="100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Gemini</a:t>
            </a: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, GitHub Copilot, </a:t>
            </a:r>
            <a:r>
              <a:rPr lang="en" sz="100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Claude</a:t>
            </a: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) understand intent but lack direct data access. MCP acts as a secure, standardized "USB-C port" for AI integration.</a:t>
            </a:r>
            <a:endParaRPr sz="700"/>
          </a:p>
        </p:txBody>
      </p:sp>
      <p:sp>
        <p:nvSpPr>
          <p:cNvPr id="474" name="Google Shape;474;p39"/>
          <p:cNvSpPr txBox="1"/>
          <p:nvPr/>
        </p:nvSpPr>
        <p:spPr>
          <a:xfrm rot="-198461">
            <a:off x="1044677" y="1645469"/>
            <a:ext cx="3228879" cy="323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THE POWER BI HANDS</a:t>
            </a:r>
            <a:endParaRPr sz="700"/>
          </a:p>
        </p:txBody>
      </p:sp>
      <p:sp>
        <p:nvSpPr>
          <p:cNvPr id="475" name="Google Shape;475;p39"/>
          <p:cNvSpPr txBox="1"/>
          <p:nvPr/>
        </p:nvSpPr>
        <p:spPr>
          <a:xfrm>
            <a:off x="7321414" y="420535"/>
            <a:ext cx="1308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Briefing</a:t>
            </a:r>
            <a:endParaRPr sz="700"/>
          </a:p>
        </p:txBody>
      </p:sp>
      <p:sp>
        <p:nvSpPr>
          <p:cNvPr id="476" name="Google Shape;476;p39"/>
          <p:cNvSpPr txBox="1"/>
          <p:nvPr/>
        </p:nvSpPr>
        <p:spPr>
          <a:xfrm>
            <a:off x="5624513" y="1206437"/>
            <a:ext cx="252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MCP Server: Natural Language to TOM</a:t>
            </a:r>
            <a:endParaRPr sz="700"/>
          </a:p>
        </p:txBody>
      </p:sp>
      <p:sp>
        <p:nvSpPr>
          <p:cNvPr id="477" name="Google Shape;477;p39"/>
          <p:cNvSpPr txBox="1"/>
          <p:nvPr/>
        </p:nvSpPr>
        <p:spPr>
          <a:xfrm>
            <a:off x="1462088" y="3434230"/>
            <a:ext cx="282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6070B"/>
                </a:solidFill>
                <a:latin typeface="Montserrat"/>
                <a:ea typeface="Montserrat"/>
                <a:cs typeface="Montserrat"/>
                <a:sym typeface="Montserrat"/>
              </a:rPr>
              <a:t>LLMs understand intent but lack direct data access</a:t>
            </a:r>
            <a:endParaRPr sz="700"/>
          </a:p>
        </p:txBody>
      </p:sp>
      <p:sp>
        <p:nvSpPr>
          <p:cNvPr id="478" name="Google Shape;478;p39"/>
          <p:cNvSpPr txBox="1"/>
          <p:nvPr/>
        </p:nvSpPr>
        <p:spPr>
          <a:xfrm>
            <a:off x="5624513" y="1488194"/>
            <a:ext cx="25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Translates prompts into Tabular Object Model commands</a:t>
            </a:r>
            <a:endParaRPr sz="700"/>
          </a:p>
        </p:txBody>
      </p:sp>
      <p:sp>
        <p:nvSpPr>
          <p:cNvPr id="479" name="Google Shape;479;p39"/>
          <p:cNvSpPr txBox="1"/>
          <p:nvPr/>
        </p:nvSpPr>
        <p:spPr>
          <a:xfrm>
            <a:off x="1462088" y="3823613"/>
            <a:ext cx="211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6070B"/>
                </a:solidFill>
                <a:latin typeface="Montserrat"/>
                <a:ea typeface="Montserrat"/>
                <a:cs typeface="Montserrat"/>
                <a:sym typeface="Montserrat"/>
              </a:rPr>
              <a:t>MCP bridges AI reasoning to live Power BI data</a:t>
            </a:r>
            <a:endParaRPr sz="700"/>
          </a:p>
        </p:txBody>
      </p:sp>
      <p:sp>
        <p:nvSpPr>
          <p:cNvPr id="480" name="Google Shape;480;p39"/>
          <p:cNvSpPr txBox="1"/>
          <p:nvPr/>
        </p:nvSpPr>
        <p:spPr>
          <a:xfrm>
            <a:off x="5204529" y="836613"/>
            <a:ext cx="2940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Demystifying MCP (Model Context Protocol)</a:t>
            </a:r>
            <a:endParaRPr sz="700"/>
          </a:p>
        </p:txBody>
      </p:sp>
      <p:sp>
        <p:nvSpPr>
          <p:cNvPr id="481" name="Google Shape;481;p39"/>
          <p:cNvSpPr txBox="1"/>
          <p:nvPr/>
        </p:nvSpPr>
        <p:spPr>
          <a:xfrm>
            <a:off x="1040265" y="3167442"/>
            <a:ext cx="1626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Why It Works</a:t>
            </a:r>
            <a:endParaRPr sz="700"/>
          </a:p>
        </p:txBody>
      </p:sp>
      <p:sp>
        <p:nvSpPr>
          <p:cNvPr id="482" name="Google Shape;482;p39"/>
          <p:cNvSpPr txBox="1"/>
          <p:nvPr/>
        </p:nvSpPr>
        <p:spPr>
          <a:xfrm>
            <a:off x="5624513" y="1884433"/>
            <a:ext cx="25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Programmatically creates, edits &amp; queries tables</a:t>
            </a:r>
            <a:endParaRPr sz="700"/>
          </a:p>
        </p:txBody>
      </p:sp>
      <p:sp>
        <p:nvSpPr>
          <p:cNvPr id="483" name="Google Shape;483;p39"/>
          <p:cNvSpPr txBox="1"/>
          <p:nvPr/>
        </p:nvSpPr>
        <p:spPr>
          <a:xfrm>
            <a:off x="1462088" y="4210050"/>
            <a:ext cx="211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06070B"/>
                </a:solidFill>
                <a:latin typeface="Montserrat"/>
                <a:ea typeface="Montserrat"/>
                <a:cs typeface="Montserrat"/>
                <a:sym typeface="Montserrat"/>
              </a:rPr>
              <a:t>Secure, standardized protocol — like a "USB-C" for AI</a:t>
            </a:r>
            <a:endParaRPr sz="700"/>
          </a:p>
        </p:txBody>
      </p:sp>
      <p:sp>
        <p:nvSpPr>
          <p:cNvPr id="484" name="Google Shape;484;p39"/>
          <p:cNvSpPr txBox="1"/>
          <p:nvPr/>
        </p:nvSpPr>
        <p:spPr>
          <a:xfrm>
            <a:off x="5624513" y="2282487"/>
            <a:ext cx="2520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Direct execution inside your semantic model</a:t>
            </a:r>
            <a:endParaRPr sz="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40"/>
          <p:cNvGrpSpPr/>
          <p:nvPr/>
        </p:nvGrpSpPr>
        <p:grpSpPr>
          <a:xfrm>
            <a:off x="514350" y="447450"/>
            <a:ext cx="133787" cy="133787"/>
            <a:chOff x="0" y="0"/>
            <a:chExt cx="812800" cy="812800"/>
          </a:xfrm>
        </p:grpSpPr>
        <p:sp>
          <p:nvSpPr>
            <p:cNvPr id="490" name="Google Shape;490;p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2" name="Google Shape;492;p40"/>
          <p:cNvGrpSpPr/>
          <p:nvPr/>
        </p:nvGrpSpPr>
        <p:grpSpPr>
          <a:xfrm>
            <a:off x="742379" y="447450"/>
            <a:ext cx="133787" cy="133787"/>
            <a:chOff x="0" y="0"/>
            <a:chExt cx="812800" cy="812800"/>
          </a:xfrm>
        </p:grpSpPr>
        <p:sp>
          <p:nvSpPr>
            <p:cNvPr id="493" name="Google Shape;493;p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" name="Google Shape;495;p40"/>
          <p:cNvGrpSpPr/>
          <p:nvPr/>
        </p:nvGrpSpPr>
        <p:grpSpPr>
          <a:xfrm>
            <a:off x="971293" y="447450"/>
            <a:ext cx="133787" cy="133787"/>
            <a:chOff x="0" y="0"/>
            <a:chExt cx="812800" cy="812800"/>
          </a:xfrm>
        </p:grpSpPr>
        <p:sp>
          <p:nvSpPr>
            <p:cNvPr id="496" name="Google Shape;496;p4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8" name="Google Shape;498;p40"/>
          <p:cNvCxnSpPr/>
          <p:nvPr/>
        </p:nvCxnSpPr>
        <p:spPr>
          <a:xfrm>
            <a:off x="1325880" y="509588"/>
            <a:ext cx="5782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40"/>
          <p:cNvSpPr/>
          <p:nvPr/>
        </p:nvSpPr>
        <p:spPr>
          <a:xfrm rot="-5400000">
            <a:off x="8128789" y="886178"/>
            <a:ext cx="1553507" cy="1954096"/>
          </a:xfrm>
          <a:custGeom>
            <a:rect b="b" l="l" r="r" t="t"/>
            <a:pathLst>
              <a:path extrusionOk="0" h="3908192" w="3107013">
                <a:moveTo>
                  <a:pt x="0" y="0"/>
                </a:moveTo>
                <a:lnTo>
                  <a:pt x="3107013" y="0"/>
                </a:lnTo>
                <a:lnTo>
                  <a:pt x="3107013" y="3908192"/>
                </a:lnTo>
                <a:lnTo>
                  <a:pt x="0" y="3908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0" name="Google Shape;500;p40"/>
          <p:cNvGrpSpPr/>
          <p:nvPr/>
        </p:nvGrpSpPr>
        <p:grpSpPr>
          <a:xfrm rot="65949">
            <a:off x="4684828" y="876999"/>
            <a:ext cx="3319291" cy="579100"/>
            <a:chOff x="0" y="-38100"/>
            <a:chExt cx="2203200" cy="384381"/>
          </a:xfrm>
        </p:grpSpPr>
        <p:sp>
          <p:nvSpPr>
            <p:cNvPr id="501" name="Google Shape;501;p40"/>
            <p:cNvSpPr/>
            <p:nvPr/>
          </p:nvSpPr>
          <p:spPr>
            <a:xfrm>
              <a:off x="0" y="0"/>
              <a:ext cx="2203129" cy="346281"/>
            </a:xfrm>
            <a:custGeom>
              <a:rect b="b" l="l" r="r" t="t"/>
              <a:pathLst>
                <a:path extrusionOk="0" h="346281" w="2203129">
                  <a:moveTo>
                    <a:pt x="0" y="0"/>
                  </a:moveTo>
                  <a:lnTo>
                    <a:pt x="2203129" y="0"/>
                  </a:lnTo>
                  <a:lnTo>
                    <a:pt x="2203129" y="346281"/>
                  </a:lnTo>
                  <a:lnTo>
                    <a:pt x="0" y="346281"/>
                  </a:lnTo>
                  <a:close/>
                </a:path>
              </a:pathLst>
            </a:custGeom>
            <a:noFill/>
            <a:ln cap="sq" cmpd="sng" w="9525">
              <a:solidFill>
                <a:srgbClr val="F2B8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02" name="Google Shape;502;p40"/>
            <p:cNvSpPr txBox="1"/>
            <p:nvPr/>
          </p:nvSpPr>
          <p:spPr>
            <a:xfrm>
              <a:off x="0" y="-38100"/>
              <a:ext cx="22032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40"/>
          <p:cNvGrpSpPr/>
          <p:nvPr/>
        </p:nvGrpSpPr>
        <p:grpSpPr>
          <a:xfrm rot="-197842">
            <a:off x="4334811" y="1453773"/>
            <a:ext cx="4621096" cy="541415"/>
            <a:chOff x="0" y="-38100"/>
            <a:chExt cx="3003350" cy="384381"/>
          </a:xfrm>
        </p:grpSpPr>
        <p:sp>
          <p:nvSpPr>
            <p:cNvPr id="504" name="Google Shape;504;p40"/>
            <p:cNvSpPr/>
            <p:nvPr/>
          </p:nvSpPr>
          <p:spPr>
            <a:xfrm>
              <a:off x="0" y="0"/>
              <a:ext cx="3003350" cy="346281"/>
            </a:xfrm>
            <a:custGeom>
              <a:rect b="b" l="l" r="r" t="t"/>
              <a:pathLst>
                <a:path extrusionOk="0" h="346281" w="3003350">
                  <a:moveTo>
                    <a:pt x="0" y="0"/>
                  </a:moveTo>
                  <a:lnTo>
                    <a:pt x="3003350" y="0"/>
                  </a:lnTo>
                  <a:lnTo>
                    <a:pt x="3003350" y="346281"/>
                  </a:lnTo>
                  <a:lnTo>
                    <a:pt x="0" y="346281"/>
                  </a:ln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</p:sp>
        <p:sp>
          <p:nvSpPr>
            <p:cNvPr id="505" name="Google Shape;505;p40"/>
            <p:cNvSpPr txBox="1"/>
            <p:nvPr/>
          </p:nvSpPr>
          <p:spPr>
            <a:xfrm>
              <a:off x="0" y="-38100"/>
              <a:ext cx="3003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40"/>
          <p:cNvSpPr/>
          <p:nvPr/>
        </p:nvSpPr>
        <p:spPr>
          <a:xfrm>
            <a:off x="9030865" y="3451761"/>
            <a:ext cx="12688" cy="1691739"/>
          </a:xfrm>
          <a:custGeom>
            <a:rect b="b" l="l" r="r" t="t"/>
            <a:pathLst>
              <a:path extrusionOk="0" h="3383478" w="25376">
                <a:moveTo>
                  <a:pt x="0" y="0"/>
                </a:moveTo>
                <a:lnTo>
                  <a:pt x="25376" y="0"/>
                </a:lnTo>
                <a:lnTo>
                  <a:pt x="25376" y="3383478"/>
                </a:lnTo>
                <a:lnTo>
                  <a:pt x="0" y="3383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BD152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7" name="Google Shape;507;p40"/>
          <p:cNvSpPr/>
          <p:nvPr/>
        </p:nvSpPr>
        <p:spPr>
          <a:xfrm>
            <a:off x="1481475" y="4493571"/>
            <a:ext cx="2511205" cy="2363487"/>
          </a:xfrm>
          <a:custGeom>
            <a:rect b="b" l="l" r="r" t="t"/>
            <a:pathLst>
              <a:path extrusionOk="0" h="4726973" w="5022409">
                <a:moveTo>
                  <a:pt x="0" y="0"/>
                </a:moveTo>
                <a:lnTo>
                  <a:pt x="5022409" y="0"/>
                </a:lnTo>
                <a:lnTo>
                  <a:pt x="5022409" y="4726973"/>
                </a:lnTo>
                <a:lnTo>
                  <a:pt x="0" y="4726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40"/>
          <p:cNvSpPr/>
          <p:nvPr/>
        </p:nvSpPr>
        <p:spPr>
          <a:xfrm rot="-904748">
            <a:off x="4266921" y="730769"/>
            <a:ext cx="637758" cy="635608"/>
          </a:xfrm>
          <a:custGeom>
            <a:rect b="b" l="l" r="r" t="t"/>
            <a:pathLst>
              <a:path extrusionOk="0" h="1271963" w="1276267">
                <a:moveTo>
                  <a:pt x="0" y="0"/>
                </a:moveTo>
                <a:lnTo>
                  <a:pt x="1276267" y="0"/>
                </a:lnTo>
                <a:lnTo>
                  <a:pt x="1276267" y="1271963"/>
                </a:lnTo>
                <a:lnTo>
                  <a:pt x="0" y="1271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40"/>
          <p:cNvSpPr txBox="1"/>
          <p:nvPr/>
        </p:nvSpPr>
        <p:spPr>
          <a:xfrm>
            <a:off x="7321414" y="420535"/>
            <a:ext cx="1308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Briefing</a:t>
            </a:r>
            <a:endParaRPr sz="700"/>
          </a:p>
        </p:txBody>
      </p:sp>
      <p:sp>
        <p:nvSpPr>
          <p:cNvPr id="510" name="Google Shape;510;p40"/>
          <p:cNvSpPr txBox="1"/>
          <p:nvPr/>
        </p:nvSpPr>
        <p:spPr>
          <a:xfrm rot="68470">
            <a:off x="4589842" y="1003598"/>
            <a:ext cx="3509796" cy="369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Local vs. Remote:</a:t>
            </a:r>
            <a:endParaRPr sz="700"/>
          </a:p>
        </p:txBody>
      </p:sp>
      <p:sp>
        <p:nvSpPr>
          <p:cNvPr id="511" name="Google Shape;511;p40"/>
          <p:cNvSpPr txBox="1"/>
          <p:nvPr/>
        </p:nvSpPr>
        <p:spPr>
          <a:xfrm>
            <a:off x="4681538" y="2395538"/>
            <a:ext cx="33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Two MCP server types serve distinct purposes. Select the right server based on your workflow — modeling, querying, or both in tandem.</a:t>
            </a:r>
            <a:endParaRPr sz="700"/>
          </a:p>
        </p:txBody>
      </p:sp>
      <p:sp>
        <p:nvSpPr>
          <p:cNvPr id="512" name="Google Shape;512;p40"/>
          <p:cNvSpPr txBox="1"/>
          <p:nvPr/>
        </p:nvSpPr>
        <p:spPr>
          <a:xfrm rot="-198326">
            <a:off x="4608022" y="1547395"/>
            <a:ext cx="4068769" cy="40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CHOOSE YOUR SERVER</a:t>
            </a:r>
            <a:endParaRPr sz="700"/>
          </a:p>
        </p:txBody>
      </p:sp>
      <p:sp>
        <p:nvSpPr>
          <p:cNvPr id="513" name="Google Shape;513;p40"/>
          <p:cNvSpPr txBox="1"/>
          <p:nvPr/>
        </p:nvSpPr>
        <p:spPr>
          <a:xfrm>
            <a:off x="5214938" y="3400425"/>
            <a:ext cx="3275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Query active semantic models with conversational AI. Ideal for ad-hoc sales trends and complex DAX calculations on demand.</a:t>
            </a:r>
            <a:endParaRPr sz="700"/>
          </a:p>
        </p:txBody>
      </p:sp>
      <p:sp>
        <p:nvSpPr>
          <p:cNvPr id="514" name="Google Shape;514;p40"/>
          <p:cNvSpPr txBox="1"/>
          <p:nvPr/>
        </p:nvSpPr>
        <p:spPr>
          <a:xfrm>
            <a:off x="1323975" y="1260889"/>
            <a:ext cx="2033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Primary Focus: Model Creation &amp; Management</a:t>
            </a:r>
            <a:endParaRPr sz="700"/>
          </a:p>
        </p:txBody>
      </p:sp>
      <p:sp>
        <p:nvSpPr>
          <p:cNvPr id="515" name="Google Shape;515;p40"/>
          <p:cNvSpPr txBox="1"/>
          <p:nvPr/>
        </p:nvSpPr>
        <p:spPr>
          <a:xfrm>
            <a:off x="5214938" y="4362450"/>
            <a:ext cx="2290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Hosted cloud endpoints connected to organization tenant.</a:t>
            </a:r>
            <a:endParaRPr sz="700"/>
          </a:p>
        </p:txBody>
      </p:sp>
      <p:sp>
        <p:nvSpPr>
          <p:cNvPr id="516" name="Google Shape;516;p40"/>
          <p:cNvSpPr txBox="1"/>
          <p:nvPr/>
        </p:nvSpPr>
        <p:spPr>
          <a:xfrm>
            <a:off x="1323975" y="3907716"/>
            <a:ext cx="2119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Primary Focus: Natural Language Insights via conversational AI prompts.</a:t>
            </a:r>
            <a:endParaRPr sz="700"/>
          </a:p>
        </p:txBody>
      </p:sp>
      <p:sp>
        <p:nvSpPr>
          <p:cNvPr id="517" name="Google Shape;517;p40"/>
          <p:cNvSpPr txBox="1"/>
          <p:nvPr/>
        </p:nvSpPr>
        <p:spPr>
          <a:xfrm>
            <a:off x="5215371" y="3135696"/>
            <a:ext cx="183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Use Cases</a:t>
            </a:r>
            <a:endParaRPr sz="700"/>
          </a:p>
        </p:txBody>
      </p:sp>
      <p:sp>
        <p:nvSpPr>
          <p:cNvPr id="518" name="Google Shape;518;p40"/>
          <p:cNvSpPr txBox="1"/>
          <p:nvPr/>
        </p:nvSpPr>
        <p:spPr>
          <a:xfrm>
            <a:off x="1325880" y="991819"/>
            <a:ext cx="19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BD152F"/>
                </a:solidFill>
                <a:latin typeface="Montserrat"/>
                <a:ea typeface="Montserrat"/>
                <a:cs typeface="Montserrat"/>
                <a:sym typeface="Montserrat"/>
              </a:rPr>
              <a:t>Local Modeling Server</a:t>
            </a:r>
            <a:endParaRPr sz="700">
              <a:solidFill>
                <a:srgbClr val="BD152F"/>
              </a:solidFill>
            </a:endParaRPr>
          </a:p>
        </p:txBody>
      </p:sp>
      <p:sp>
        <p:nvSpPr>
          <p:cNvPr id="519" name="Google Shape;519;p40"/>
          <p:cNvSpPr txBox="1"/>
          <p:nvPr/>
        </p:nvSpPr>
        <p:spPr>
          <a:xfrm>
            <a:off x="1323975" y="3179054"/>
            <a:ext cx="211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Power BI Desktop · Fabric Workspace · PBIP Project Files</a:t>
            </a:r>
            <a:endParaRPr sz="700"/>
          </a:p>
        </p:txBody>
      </p:sp>
      <p:sp>
        <p:nvSpPr>
          <p:cNvPr id="520" name="Google Shape;520;p40"/>
          <p:cNvSpPr txBox="1"/>
          <p:nvPr/>
        </p:nvSpPr>
        <p:spPr>
          <a:xfrm>
            <a:off x="1325880" y="2913113"/>
            <a:ext cx="19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Environments</a:t>
            </a:r>
            <a:endParaRPr sz="700"/>
          </a:p>
        </p:txBody>
      </p:sp>
      <p:sp>
        <p:nvSpPr>
          <p:cNvPr id="521" name="Google Shape;521;p40"/>
          <p:cNvSpPr txBox="1"/>
          <p:nvPr/>
        </p:nvSpPr>
        <p:spPr>
          <a:xfrm>
            <a:off x="5215371" y="4097870"/>
            <a:ext cx="183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Environments</a:t>
            </a:r>
            <a:endParaRPr sz="700"/>
          </a:p>
        </p:txBody>
      </p:sp>
      <p:sp>
        <p:nvSpPr>
          <p:cNvPr id="522" name="Google Shape;522;p40"/>
          <p:cNvSpPr txBox="1"/>
          <p:nvPr/>
        </p:nvSpPr>
        <p:spPr>
          <a:xfrm>
            <a:off x="1323975" y="1995901"/>
            <a:ext cx="27798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Build and edit semantic models programmatically. Create tables, relationships, and measures. Update metadata and model structure at scale.</a:t>
            </a:r>
            <a:endParaRPr sz="700"/>
          </a:p>
        </p:txBody>
      </p:sp>
      <p:sp>
        <p:nvSpPr>
          <p:cNvPr id="523" name="Google Shape;523;p40"/>
          <p:cNvSpPr txBox="1"/>
          <p:nvPr/>
        </p:nvSpPr>
        <p:spPr>
          <a:xfrm>
            <a:off x="1325880" y="1729812"/>
            <a:ext cx="19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Use Cases</a:t>
            </a:r>
            <a:endParaRPr sz="700"/>
          </a:p>
        </p:txBody>
      </p:sp>
      <p:sp>
        <p:nvSpPr>
          <p:cNvPr id="524" name="Google Shape;524;p40"/>
          <p:cNvSpPr txBox="1"/>
          <p:nvPr/>
        </p:nvSpPr>
        <p:spPr>
          <a:xfrm>
            <a:off x="1325880" y="3640331"/>
            <a:ext cx="196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BD152F"/>
                </a:solidFill>
                <a:latin typeface="Montserrat"/>
                <a:ea typeface="Montserrat"/>
                <a:cs typeface="Montserrat"/>
                <a:sym typeface="Montserrat"/>
              </a:rPr>
              <a:t>Remote Querying Server</a:t>
            </a:r>
            <a:endParaRPr sz="700">
              <a:solidFill>
                <a:srgbClr val="BD152F"/>
              </a:solidFill>
            </a:endParaRPr>
          </a:p>
        </p:txBody>
      </p:sp>
      <p:sp>
        <p:nvSpPr>
          <p:cNvPr id="525" name="Google Shape;525;p40"/>
          <p:cNvSpPr/>
          <p:nvPr/>
        </p:nvSpPr>
        <p:spPr>
          <a:xfrm>
            <a:off x="800100" y="974162"/>
            <a:ext cx="204788" cy="261938"/>
          </a:xfrm>
          <a:custGeom>
            <a:rect b="b" l="l" r="r" t="t"/>
            <a:pathLst>
              <a:path extrusionOk="0" h="523875" w="409575">
                <a:moveTo>
                  <a:pt x="0" y="0"/>
                </a:moveTo>
                <a:lnTo>
                  <a:pt x="409575" y="0"/>
                </a:lnTo>
                <a:lnTo>
                  <a:pt x="4095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6" name="Google Shape;526;p40"/>
          <p:cNvSpPr/>
          <p:nvPr/>
        </p:nvSpPr>
        <p:spPr>
          <a:xfrm>
            <a:off x="804863" y="1744163"/>
            <a:ext cx="238125" cy="238125"/>
          </a:xfrm>
          <a:custGeom>
            <a:rect b="b" l="l" r="r" t="t"/>
            <a:pathLst>
              <a:path extrusionOk="0"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7" name="Google Shape;527;p40"/>
          <p:cNvSpPr/>
          <p:nvPr/>
        </p:nvSpPr>
        <p:spPr>
          <a:xfrm>
            <a:off x="823913" y="2900413"/>
            <a:ext cx="238125" cy="238125"/>
          </a:xfrm>
          <a:custGeom>
            <a:rect b="b" l="l" r="r" t="t"/>
            <a:pathLst>
              <a:path extrusionOk="0"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8" name="Google Shape;528;p40"/>
          <p:cNvSpPr/>
          <p:nvPr/>
        </p:nvSpPr>
        <p:spPr>
          <a:xfrm>
            <a:off x="795338" y="3643397"/>
            <a:ext cx="242888" cy="242888"/>
          </a:xfrm>
          <a:custGeom>
            <a:rect b="b" l="l" r="r" t="t"/>
            <a:pathLst>
              <a:path extrusionOk="0" h="485775" w="485775">
                <a:moveTo>
                  <a:pt x="0" y="0"/>
                </a:moveTo>
                <a:lnTo>
                  <a:pt x="485775" y="0"/>
                </a:lnTo>
                <a:lnTo>
                  <a:pt x="485775" y="485776"/>
                </a:lnTo>
                <a:lnTo>
                  <a:pt x="0" y="485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p40"/>
          <p:cNvSpPr/>
          <p:nvPr/>
        </p:nvSpPr>
        <p:spPr>
          <a:xfrm>
            <a:off x="4667250" y="3134519"/>
            <a:ext cx="261938" cy="261937"/>
          </a:xfrm>
          <a:custGeom>
            <a:rect b="b" l="l" r="r" t="t"/>
            <a:pathLst>
              <a:path extrusionOk="0"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p40"/>
          <p:cNvSpPr/>
          <p:nvPr/>
        </p:nvSpPr>
        <p:spPr>
          <a:xfrm>
            <a:off x="4667250" y="4090988"/>
            <a:ext cx="261938" cy="261938"/>
          </a:xfrm>
          <a:custGeom>
            <a:rect b="b" l="l" r="r" t="t"/>
            <a:pathLst>
              <a:path extrusionOk="0" h="523875" w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41"/>
          <p:cNvGrpSpPr/>
          <p:nvPr/>
        </p:nvGrpSpPr>
        <p:grpSpPr>
          <a:xfrm>
            <a:off x="514350" y="433388"/>
            <a:ext cx="138150" cy="152438"/>
            <a:chOff x="0" y="-38100"/>
            <a:chExt cx="368400" cy="406500"/>
          </a:xfrm>
        </p:grpSpPr>
        <p:sp>
          <p:nvSpPr>
            <p:cNvPr id="536" name="Google Shape;536;p41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1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41"/>
          <p:cNvGrpSpPr/>
          <p:nvPr/>
        </p:nvGrpSpPr>
        <p:grpSpPr>
          <a:xfrm>
            <a:off x="742950" y="433388"/>
            <a:ext cx="138150" cy="152438"/>
            <a:chOff x="0" y="-38100"/>
            <a:chExt cx="368400" cy="406500"/>
          </a:xfrm>
        </p:grpSpPr>
        <p:sp>
          <p:nvSpPr>
            <p:cNvPr id="539" name="Google Shape;539;p41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1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41"/>
          <p:cNvGrpSpPr/>
          <p:nvPr/>
        </p:nvGrpSpPr>
        <p:grpSpPr>
          <a:xfrm>
            <a:off x="971550" y="433388"/>
            <a:ext cx="138150" cy="152438"/>
            <a:chOff x="0" y="-38100"/>
            <a:chExt cx="368400" cy="406500"/>
          </a:xfrm>
        </p:grpSpPr>
        <p:sp>
          <p:nvSpPr>
            <p:cNvPr id="542" name="Google Shape;542;p41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1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44" name="Google Shape;544;p41"/>
          <p:cNvCxnSpPr/>
          <p:nvPr/>
        </p:nvCxnSpPr>
        <p:spPr>
          <a:xfrm>
            <a:off x="1323975" y="509588"/>
            <a:ext cx="57864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41"/>
          <p:cNvSpPr txBox="1"/>
          <p:nvPr/>
        </p:nvSpPr>
        <p:spPr>
          <a:xfrm>
            <a:off x="7315200" y="419100"/>
            <a:ext cx="130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b="0" i="0" sz="700" u="none" cap="none" strike="noStrike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46" name="Google Shape;546;p41"/>
          <p:cNvGrpSpPr/>
          <p:nvPr/>
        </p:nvGrpSpPr>
        <p:grpSpPr>
          <a:xfrm>
            <a:off x="400605" y="1561780"/>
            <a:ext cx="2553005" cy="2716169"/>
            <a:chOff x="0" y="-38100"/>
            <a:chExt cx="4572000" cy="4864200"/>
          </a:xfrm>
        </p:grpSpPr>
        <p:sp>
          <p:nvSpPr>
            <p:cNvPr id="547" name="Google Shape;547;p41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1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p41"/>
          <p:cNvGrpSpPr/>
          <p:nvPr/>
        </p:nvGrpSpPr>
        <p:grpSpPr>
          <a:xfrm>
            <a:off x="3241262" y="1590593"/>
            <a:ext cx="2499055" cy="2658772"/>
            <a:chOff x="0" y="-38100"/>
            <a:chExt cx="4572000" cy="4864200"/>
          </a:xfrm>
        </p:grpSpPr>
        <p:sp>
          <p:nvSpPr>
            <p:cNvPr id="550" name="Google Shape;550;p41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1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p41"/>
          <p:cNvGrpSpPr/>
          <p:nvPr/>
        </p:nvGrpSpPr>
        <p:grpSpPr>
          <a:xfrm>
            <a:off x="6028176" y="1575988"/>
            <a:ext cx="2499055" cy="2658772"/>
            <a:chOff x="0" y="-38100"/>
            <a:chExt cx="4572000" cy="4864200"/>
          </a:xfrm>
        </p:grpSpPr>
        <p:sp>
          <p:nvSpPr>
            <p:cNvPr id="553" name="Google Shape;553;p41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1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p41"/>
          <p:cNvSpPr txBox="1"/>
          <p:nvPr/>
        </p:nvSpPr>
        <p:spPr>
          <a:xfrm>
            <a:off x="6167007" y="2267156"/>
            <a:ext cx="2221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Mitigation Steps</a:t>
            </a:r>
            <a:endParaRPr sz="700"/>
          </a:p>
        </p:txBody>
      </p:sp>
      <p:sp>
        <p:nvSpPr>
          <p:cNvPr id="556" name="Google Shape;556;p41"/>
          <p:cNvSpPr txBox="1"/>
          <p:nvPr/>
        </p:nvSpPr>
        <p:spPr>
          <a:xfrm>
            <a:off x="6201715" y="2540056"/>
            <a:ext cx="21519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Montserrat"/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Secure your workflow by logging in via corporate SSO, manually opting out of telemetry via CLI settings (/config), and strictly avoiding prompts that request raw, row-level sample data.</a:t>
            </a:r>
            <a:endParaRPr sz="700"/>
          </a:p>
        </p:txBody>
      </p:sp>
      <p:cxnSp>
        <p:nvCxnSpPr>
          <p:cNvPr id="557" name="Google Shape;557;p41"/>
          <p:cNvCxnSpPr/>
          <p:nvPr/>
        </p:nvCxnSpPr>
        <p:spPr>
          <a:xfrm>
            <a:off x="6167007" y="4179071"/>
            <a:ext cx="22215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41"/>
          <p:cNvSpPr txBox="1"/>
          <p:nvPr/>
        </p:nvSpPr>
        <p:spPr>
          <a:xfrm>
            <a:off x="3414800" y="2520217"/>
            <a:ext cx="21519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Enterprise Accounts:</a:t>
            </a: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Bound by strict Cloud ToS; your data is strictly prohibited from being used for training.</a:t>
            </a:r>
            <a:endParaRPr b="0" i="0" sz="9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Montserrat"/>
              <a:buNone/>
            </a:pPr>
            <a:r>
              <a:rPr b="1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Consumer Accounts:</a:t>
            </a: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Prompts and project metadata may be used to train and improve AI models.</a:t>
            </a:r>
            <a:endParaRPr sz="700"/>
          </a:p>
        </p:txBody>
      </p:sp>
      <p:sp>
        <p:nvSpPr>
          <p:cNvPr id="559" name="Google Shape;559;p41"/>
          <p:cNvSpPr txBox="1"/>
          <p:nvPr/>
        </p:nvSpPr>
        <p:spPr>
          <a:xfrm>
            <a:off x="3380093" y="2235837"/>
            <a:ext cx="2221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Account Tier Impact</a:t>
            </a:r>
            <a:endParaRPr sz="700"/>
          </a:p>
        </p:txBody>
      </p:sp>
      <p:cxnSp>
        <p:nvCxnSpPr>
          <p:cNvPr id="560" name="Google Shape;560;p41"/>
          <p:cNvCxnSpPr/>
          <p:nvPr/>
        </p:nvCxnSpPr>
        <p:spPr>
          <a:xfrm>
            <a:off x="3380093" y="4193676"/>
            <a:ext cx="22215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41"/>
          <p:cNvSpPr txBox="1"/>
          <p:nvPr/>
        </p:nvSpPr>
        <p:spPr>
          <a:xfrm>
            <a:off x="577876" y="2542434"/>
            <a:ext cx="21981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MCP extracts local PowerBI schema securely. However, the data leaves your local boundary the moment the Antigravity CLI transmits this context to the cloud LLM for processing.</a:t>
            </a:r>
            <a:endParaRPr sz="700"/>
          </a:p>
        </p:txBody>
      </p:sp>
      <p:sp>
        <p:nvSpPr>
          <p:cNvPr id="562" name="Google Shape;562;p41"/>
          <p:cNvSpPr txBox="1"/>
          <p:nvPr/>
        </p:nvSpPr>
        <p:spPr>
          <a:xfrm>
            <a:off x="542422" y="2263564"/>
            <a:ext cx="226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Transmission Risk</a:t>
            </a:r>
            <a:endParaRPr sz="700"/>
          </a:p>
        </p:txBody>
      </p:sp>
      <p:cxnSp>
        <p:nvCxnSpPr>
          <p:cNvPr id="563" name="Google Shape;563;p41"/>
          <p:cNvCxnSpPr/>
          <p:nvPr/>
        </p:nvCxnSpPr>
        <p:spPr>
          <a:xfrm>
            <a:off x="542422" y="4220845"/>
            <a:ext cx="22692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41"/>
          <p:cNvSpPr/>
          <p:nvPr/>
        </p:nvSpPr>
        <p:spPr>
          <a:xfrm>
            <a:off x="1499685" y="1795780"/>
            <a:ext cx="354541" cy="354542"/>
          </a:xfrm>
          <a:custGeom>
            <a:rect b="b" l="l" r="r" t="t"/>
            <a:pathLst>
              <a:path extrusionOk="0" h="709083" w="709083">
                <a:moveTo>
                  <a:pt x="0" y="0"/>
                </a:moveTo>
                <a:lnTo>
                  <a:pt x="709083" y="0"/>
                </a:lnTo>
                <a:lnTo>
                  <a:pt x="709083" y="709083"/>
                </a:lnTo>
                <a:lnTo>
                  <a:pt x="0" y="709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5" name="Google Shape;565;p41"/>
          <p:cNvSpPr/>
          <p:nvPr/>
        </p:nvSpPr>
        <p:spPr>
          <a:xfrm>
            <a:off x="4317202" y="1773741"/>
            <a:ext cx="347078" cy="347078"/>
          </a:xfrm>
          <a:custGeom>
            <a:rect b="b" l="l" r="r" t="t"/>
            <a:pathLst>
              <a:path extrusionOk="0" h="694155" w="694155">
                <a:moveTo>
                  <a:pt x="0" y="0"/>
                </a:moveTo>
                <a:lnTo>
                  <a:pt x="694155" y="0"/>
                </a:lnTo>
                <a:lnTo>
                  <a:pt x="694155" y="694155"/>
                </a:lnTo>
                <a:lnTo>
                  <a:pt x="0" y="694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6" name="Google Shape;566;p41"/>
          <p:cNvSpPr/>
          <p:nvPr/>
        </p:nvSpPr>
        <p:spPr>
          <a:xfrm>
            <a:off x="7104117" y="1805060"/>
            <a:ext cx="347077" cy="347078"/>
          </a:xfrm>
          <a:custGeom>
            <a:rect b="b" l="l" r="r" t="t"/>
            <a:pathLst>
              <a:path extrusionOk="0" h="694155" w="694155">
                <a:moveTo>
                  <a:pt x="0" y="0"/>
                </a:moveTo>
                <a:lnTo>
                  <a:pt x="694155" y="0"/>
                </a:lnTo>
                <a:lnTo>
                  <a:pt x="694155" y="694155"/>
                </a:lnTo>
                <a:lnTo>
                  <a:pt x="0" y="694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7" name="Google Shape;567;p41"/>
          <p:cNvGrpSpPr/>
          <p:nvPr/>
        </p:nvGrpSpPr>
        <p:grpSpPr>
          <a:xfrm rot="60498">
            <a:off x="2381394" y="820426"/>
            <a:ext cx="4382216" cy="442979"/>
            <a:chOff x="0" y="-38100"/>
            <a:chExt cx="11684100" cy="1181100"/>
          </a:xfrm>
        </p:grpSpPr>
        <p:sp>
          <p:nvSpPr>
            <p:cNvPr id="568" name="Google Shape;568;p41"/>
            <p:cNvSpPr/>
            <p:nvPr/>
          </p:nvSpPr>
          <p:spPr>
            <a:xfrm>
              <a:off x="0" y="0"/>
              <a:ext cx="11684000" cy="1143000"/>
            </a:xfrm>
            <a:custGeom>
              <a:rect b="b" l="l" r="r" t="t"/>
              <a:pathLst>
                <a:path extrusionOk="0" h="1143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F2B8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69" name="Google Shape;569;p41"/>
            <p:cNvSpPr txBox="1"/>
            <p:nvPr/>
          </p:nvSpPr>
          <p:spPr>
            <a:xfrm>
              <a:off x="0" y="-38100"/>
              <a:ext cx="116841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570;p41"/>
          <p:cNvSpPr txBox="1"/>
          <p:nvPr/>
        </p:nvSpPr>
        <p:spPr>
          <a:xfrm rot="60046">
            <a:off x="2476966" y="929673"/>
            <a:ext cx="4191039" cy="21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PowerBI MCP &amp; Data Privacy</a:t>
            </a:r>
            <a:endParaRPr sz="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42"/>
          <p:cNvGrpSpPr/>
          <p:nvPr/>
        </p:nvGrpSpPr>
        <p:grpSpPr>
          <a:xfrm>
            <a:off x="514350" y="447450"/>
            <a:ext cx="133787" cy="133787"/>
            <a:chOff x="0" y="0"/>
            <a:chExt cx="812800" cy="812800"/>
          </a:xfrm>
        </p:grpSpPr>
        <p:sp>
          <p:nvSpPr>
            <p:cNvPr id="576" name="Google Shape;576;p4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42"/>
          <p:cNvGrpSpPr/>
          <p:nvPr/>
        </p:nvGrpSpPr>
        <p:grpSpPr>
          <a:xfrm>
            <a:off x="742379" y="447450"/>
            <a:ext cx="133787" cy="133787"/>
            <a:chOff x="0" y="0"/>
            <a:chExt cx="812800" cy="812800"/>
          </a:xfrm>
        </p:grpSpPr>
        <p:sp>
          <p:nvSpPr>
            <p:cNvPr id="579" name="Google Shape;579;p4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42"/>
          <p:cNvGrpSpPr/>
          <p:nvPr/>
        </p:nvGrpSpPr>
        <p:grpSpPr>
          <a:xfrm>
            <a:off x="971293" y="447450"/>
            <a:ext cx="133787" cy="133787"/>
            <a:chOff x="0" y="0"/>
            <a:chExt cx="812800" cy="812800"/>
          </a:xfrm>
        </p:grpSpPr>
        <p:sp>
          <p:nvSpPr>
            <p:cNvPr id="582" name="Google Shape;582;p4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2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84" name="Google Shape;584;p42"/>
          <p:cNvCxnSpPr/>
          <p:nvPr/>
        </p:nvCxnSpPr>
        <p:spPr>
          <a:xfrm>
            <a:off x="1325880" y="509588"/>
            <a:ext cx="5782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5" name="Google Shape;585;p42"/>
          <p:cNvGrpSpPr/>
          <p:nvPr/>
        </p:nvGrpSpPr>
        <p:grpSpPr>
          <a:xfrm rot="65949">
            <a:off x="822456" y="922576"/>
            <a:ext cx="3474770" cy="579100"/>
            <a:chOff x="0" y="-38100"/>
            <a:chExt cx="2306400" cy="384381"/>
          </a:xfrm>
        </p:grpSpPr>
        <p:sp>
          <p:nvSpPr>
            <p:cNvPr id="586" name="Google Shape;586;p42"/>
            <p:cNvSpPr/>
            <p:nvPr/>
          </p:nvSpPr>
          <p:spPr>
            <a:xfrm>
              <a:off x="0" y="0"/>
              <a:ext cx="2306312" cy="346281"/>
            </a:xfrm>
            <a:custGeom>
              <a:rect b="b" l="l" r="r" t="t"/>
              <a:pathLst>
                <a:path extrusionOk="0" h="346281" w="2306312">
                  <a:moveTo>
                    <a:pt x="0" y="0"/>
                  </a:moveTo>
                  <a:lnTo>
                    <a:pt x="2306312" y="0"/>
                  </a:lnTo>
                  <a:lnTo>
                    <a:pt x="2306312" y="346281"/>
                  </a:lnTo>
                  <a:lnTo>
                    <a:pt x="0" y="346281"/>
                  </a:lnTo>
                  <a:close/>
                </a:path>
              </a:pathLst>
            </a:custGeom>
            <a:noFill/>
            <a:ln cap="sq" cmpd="sng" w="9525">
              <a:solidFill>
                <a:srgbClr val="F2B8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87" name="Google Shape;587;p42"/>
            <p:cNvSpPr txBox="1"/>
            <p:nvPr/>
          </p:nvSpPr>
          <p:spPr>
            <a:xfrm>
              <a:off x="0" y="-38100"/>
              <a:ext cx="23064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" name="Google Shape;588;p42"/>
          <p:cNvGrpSpPr/>
          <p:nvPr/>
        </p:nvGrpSpPr>
        <p:grpSpPr>
          <a:xfrm rot="-198046">
            <a:off x="434019" y="1509564"/>
            <a:ext cx="4494359" cy="541415"/>
            <a:chOff x="0" y="-38100"/>
            <a:chExt cx="3190800" cy="384381"/>
          </a:xfrm>
        </p:grpSpPr>
        <p:sp>
          <p:nvSpPr>
            <p:cNvPr id="589" name="Google Shape;589;p42"/>
            <p:cNvSpPr/>
            <p:nvPr/>
          </p:nvSpPr>
          <p:spPr>
            <a:xfrm>
              <a:off x="0" y="0"/>
              <a:ext cx="3190672" cy="346281"/>
            </a:xfrm>
            <a:custGeom>
              <a:rect b="b" l="l" r="r" t="t"/>
              <a:pathLst>
                <a:path extrusionOk="0" h="346281" w="3190672">
                  <a:moveTo>
                    <a:pt x="0" y="0"/>
                  </a:moveTo>
                  <a:lnTo>
                    <a:pt x="3190672" y="0"/>
                  </a:lnTo>
                  <a:lnTo>
                    <a:pt x="3190672" y="346281"/>
                  </a:lnTo>
                  <a:lnTo>
                    <a:pt x="0" y="346281"/>
                  </a:ln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</p:sp>
        <p:sp>
          <p:nvSpPr>
            <p:cNvPr id="590" name="Google Shape;590;p42"/>
            <p:cNvSpPr txBox="1"/>
            <p:nvPr/>
          </p:nvSpPr>
          <p:spPr>
            <a:xfrm>
              <a:off x="0" y="-38100"/>
              <a:ext cx="31908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1" name="Google Shape;591;p42"/>
          <p:cNvSpPr/>
          <p:nvPr/>
        </p:nvSpPr>
        <p:spPr>
          <a:xfrm>
            <a:off x="6945698" y="61773"/>
            <a:ext cx="2441444" cy="2297830"/>
          </a:xfrm>
          <a:custGeom>
            <a:rect b="b" l="l" r="r" t="t"/>
            <a:pathLst>
              <a:path extrusionOk="0" h="4595660" w="4882889">
                <a:moveTo>
                  <a:pt x="0" y="0"/>
                </a:moveTo>
                <a:lnTo>
                  <a:pt x="4882889" y="0"/>
                </a:lnTo>
                <a:lnTo>
                  <a:pt x="4882889" y="4595660"/>
                </a:lnTo>
                <a:lnTo>
                  <a:pt x="0" y="4595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 rot="-286101">
            <a:off x="5335235" y="868318"/>
            <a:ext cx="2365437" cy="1879414"/>
            <a:chOff x="0" y="0"/>
            <a:chExt cx="3901440" cy="3099816"/>
          </a:xfrm>
        </p:grpSpPr>
        <p:sp>
          <p:nvSpPr>
            <p:cNvPr id="593" name="Google Shape;593;p42"/>
            <p:cNvSpPr/>
            <p:nvPr/>
          </p:nvSpPr>
          <p:spPr>
            <a:xfrm>
              <a:off x="127000" y="190500"/>
              <a:ext cx="3657600" cy="2413000"/>
            </a:xfrm>
            <a:custGeom>
              <a:rect b="b" l="l" r="r" t="t"/>
              <a:pathLst>
                <a:path extrusionOk="0"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360" r="-360" t="0"/>
              </a:stretch>
            </a:blipFill>
            <a:ln>
              <a:noFill/>
            </a:ln>
          </p:spPr>
        </p:sp>
        <p:sp>
          <p:nvSpPr>
            <p:cNvPr id="594" name="Google Shape;594;p42"/>
            <p:cNvSpPr/>
            <p:nvPr/>
          </p:nvSpPr>
          <p:spPr>
            <a:xfrm>
              <a:off x="0" y="0"/>
              <a:ext cx="3901440" cy="3099816"/>
            </a:xfrm>
            <a:custGeom>
              <a:rect b="b" l="l" r="r" t="t"/>
              <a:pathLst>
                <a:path extrusionOk="0"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0" l="0" r="0" t="-30"/>
              </a:stretch>
            </a:blipFill>
            <a:ln>
              <a:noFill/>
            </a:ln>
          </p:spPr>
        </p:sp>
      </p:grpSp>
      <p:sp>
        <p:nvSpPr>
          <p:cNvPr id="595" name="Google Shape;595;p42"/>
          <p:cNvSpPr/>
          <p:nvPr/>
        </p:nvSpPr>
        <p:spPr>
          <a:xfrm>
            <a:off x="8930418" y="3451761"/>
            <a:ext cx="213582" cy="1691739"/>
          </a:xfrm>
          <a:custGeom>
            <a:rect b="b" l="l" r="r" t="t"/>
            <a:pathLst>
              <a:path extrusionOk="0" h="3383478" w="427164">
                <a:moveTo>
                  <a:pt x="0" y="0"/>
                </a:moveTo>
                <a:lnTo>
                  <a:pt x="427164" y="0"/>
                </a:lnTo>
                <a:lnTo>
                  <a:pt x="427164" y="3383478"/>
                </a:lnTo>
                <a:lnTo>
                  <a:pt x="0" y="338347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6" name="Google Shape;596;p42"/>
          <p:cNvSpPr/>
          <p:nvPr/>
        </p:nvSpPr>
        <p:spPr>
          <a:xfrm rot="-1940363">
            <a:off x="7506159" y="1623342"/>
            <a:ext cx="533349" cy="540757"/>
          </a:xfrm>
          <a:custGeom>
            <a:rect b="b" l="l" r="r" t="t"/>
            <a:pathLst>
              <a:path extrusionOk="0" h="1081379" w="1066565">
                <a:moveTo>
                  <a:pt x="0" y="0"/>
                </a:moveTo>
                <a:lnTo>
                  <a:pt x="1066566" y="0"/>
                </a:lnTo>
                <a:lnTo>
                  <a:pt x="1066566" y="1081378"/>
                </a:lnTo>
                <a:lnTo>
                  <a:pt x="0" y="1081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7" name="Google Shape;597;p42"/>
          <p:cNvSpPr txBox="1"/>
          <p:nvPr/>
        </p:nvSpPr>
        <p:spPr>
          <a:xfrm>
            <a:off x="7321414" y="420535"/>
            <a:ext cx="1308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Setup</a:t>
            </a:r>
            <a:endParaRPr sz="700"/>
          </a:p>
        </p:txBody>
      </p:sp>
      <p:sp>
        <p:nvSpPr>
          <p:cNvPr id="598" name="Google Shape;598;p42"/>
          <p:cNvSpPr txBox="1"/>
          <p:nvPr/>
        </p:nvSpPr>
        <p:spPr>
          <a:xfrm rot="68568">
            <a:off x="935592" y="1049221"/>
            <a:ext cx="3249046" cy="369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Setting Up the Local</a:t>
            </a:r>
            <a:endParaRPr sz="700"/>
          </a:p>
        </p:txBody>
      </p:sp>
      <p:sp>
        <p:nvSpPr>
          <p:cNvPr id="599" name="Google Shape;599;p42"/>
          <p:cNvSpPr txBox="1"/>
          <p:nvPr/>
        </p:nvSpPr>
        <p:spPr>
          <a:xfrm>
            <a:off x="1038225" y="2371725"/>
            <a:ext cx="365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 step-by-step timeline to connect Power BI's Local MCP Modeling Server with your AI assistant for automated DAX generation and semantic model management.</a:t>
            </a:r>
            <a:endParaRPr sz="700"/>
          </a:p>
        </p:txBody>
      </p:sp>
      <p:sp>
        <p:nvSpPr>
          <p:cNvPr id="600" name="Google Shape;600;p42"/>
          <p:cNvSpPr txBox="1"/>
          <p:nvPr/>
        </p:nvSpPr>
        <p:spPr>
          <a:xfrm rot="-198395">
            <a:off x="577741" y="1626990"/>
            <a:ext cx="4197388" cy="92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MCP SERVER IN VS CODE</a:t>
            </a:r>
            <a:endParaRPr sz="700"/>
          </a:p>
        </p:txBody>
      </p:sp>
      <p:sp>
        <p:nvSpPr>
          <p:cNvPr id="601" name="Google Shape;601;p42"/>
          <p:cNvSpPr txBox="1"/>
          <p:nvPr/>
        </p:nvSpPr>
        <p:spPr>
          <a:xfrm>
            <a:off x="1709738" y="3324225"/>
            <a:ext cx="2862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Download Visual Studio Code and ensure Node.js is installed locally on your machine.</a:t>
            </a:r>
            <a:endParaRPr sz="700"/>
          </a:p>
        </p:txBody>
      </p:sp>
      <p:sp>
        <p:nvSpPr>
          <p:cNvPr id="602" name="Google Shape;602;p42"/>
          <p:cNvSpPr txBox="1"/>
          <p:nvPr/>
        </p:nvSpPr>
        <p:spPr>
          <a:xfrm>
            <a:off x="5981700" y="3324225"/>
            <a:ext cx="292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Install Gemini/Antigravity CLI and Power BI Modeling MCP Server extensions from VS Code Marketplace.</a:t>
            </a:r>
            <a:endParaRPr sz="700"/>
          </a:p>
        </p:txBody>
      </p:sp>
      <p:sp>
        <p:nvSpPr>
          <p:cNvPr id="603" name="Google Shape;603;p42"/>
          <p:cNvSpPr txBox="1"/>
          <p:nvPr/>
        </p:nvSpPr>
        <p:spPr>
          <a:xfrm>
            <a:off x="1709738" y="4086225"/>
            <a:ext cx="2862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Copy the executable path or custom arguments from VS Code settings for the MCP extension.</a:t>
            </a:r>
            <a:endParaRPr sz="700"/>
          </a:p>
        </p:txBody>
      </p:sp>
      <p:sp>
        <p:nvSpPr>
          <p:cNvPr id="604" name="Google Shape;604;p42"/>
          <p:cNvSpPr txBox="1"/>
          <p:nvPr/>
        </p:nvSpPr>
        <p:spPr>
          <a:xfrm>
            <a:off x="5981700" y="4235923"/>
            <a:ext cx="29268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Paste server config into .gemini\config\mcp_config.json settings, then open Power BI Desktop and authorize the connection.</a:t>
            </a:r>
            <a:endParaRPr sz="700"/>
          </a:p>
        </p:txBody>
      </p:sp>
      <p:sp>
        <p:nvSpPr>
          <p:cNvPr id="605" name="Google Shape;605;p42"/>
          <p:cNvSpPr txBox="1"/>
          <p:nvPr/>
        </p:nvSpPr>
        <p:spPr>
          <a:xfrm>
            <a:off x="1709036" y="3056536"/>
            <a:ext cx="252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Install Base Tools</a:t>
            </a:r>
            <a:endParaRPr sz="700"/>
          </a:p>
        </p:txBody>
      </p:sp>
      <p:sp>
        <p:nvSpPr>
          <p:cNvPr id="606" name="Google Shape;606;p42"/>
          <p:cNvSpPr/>
          <p:nvPr/>
        </p:nvSpPr>
        <p:spPr>
          <a:xfrm rot="-5400000">
            <a:off x="-393423" y="3137171"/>
            <a:ext cx="1637347" cy="2057400"/>
          </a:xfrm>
          <a:custGeom>
            <a:rect b="b" l="l" r="r" t="t"/>
            <a:pathLst>
              <a:path extrusionOk="0" h="4114800" w="3274695">
                <a:moveTo>
                  <a:pt x="0" y="0"/>
                </a:moveTo>
                <a:lnTo>
                  <a:pt x="3274695" y="0"/>
                </a:lnTo>
                <a:lnTo>
                  <a:pt x="32746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7" name="Google Shape;607;p42"/>
          <p:cNvSpPr txBox="1"/>
          <p:nvPr/>
        </p:nvSpPr>
        <p:spPr>
          <a:xfrm>
            <a:off x="1071501" y="3122626"/>
            <a:ext cx="54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2"/>
          <p:cNvSpPr txBox="1"/>
          <p:nvPr/>
        </p:nvSpPr>
        <p:spPr>
          <a:xfrm>
            <a:off x="5346768" y="3122626"/>
            <a:ext cx="54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 txBox="1"/>
          <p:nvPr/>
        </p:nvSpPr>
        <p:spPr>
          <a:xfrm>
            <a:off x="1071501" y="3885142"/>
            <a:ext cx="54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2"/>
          <p:cNvSpPr txBox="1"/>
          <p:nvPr/>
        </p:nvSpPr>
        <p:spPr>
          <a:xfrm>
            <a:off x="5346768" y="4034840"/>
            <a:ext cx="540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37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2"/>
          <p:cNvSpPr txBox="1"/>
          <p:nvPr/>
        </p:nvSpPr>
        <p:spPr>
          <a:xfrm>
            <a:off x="5982147" y="3056536"/>
            <a:ext cx="223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Add Extensions</a:t>
            </a:r>
            <a:endParaRPr sz="700"/>
          </a:p>
        </p:txBody>
      </p:sp>
      <p:sp>
        <p:nvSpPr>
          <p:cNvPr id="612" name="Google Shape;612;p42"/>
          <p:cNvSpPr txBox="1"/>
          <p:nvPr/>
        </p:nvSpPr>
        <p:spPr>
          <a:xfrm>
            <a:off x="1709036" y="3819052"/>
            <a:ext cx="223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Retrieve Server Path</a:t>
            </a:r>
            <a:endParaRPr sz="700"/>
          </a:p>
        </p:txBody>
      </p:sp>
      <p:sp>
        <p:nvSpPr>
          <p:cNvPr id="613" name="Google Shape;613;p42"/>
          <p:cNvSpPr txBox="1"/>
          <p:nvPr/>
        </p:nvSpPr>
        <p:spPr>
          <a:xfrm>
            <a:off x="5982147" y="3968750"/>
            <a:ext cx="2235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Register &amp; Connect</a:t>
            </a:r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42" y="2754119"/>
            <a:ext cx="1484588" cy="153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1413" y="1141038"/>
            <a:ext cx="1822586" cy="2545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1" name="Google Shape;621;p43"/>
          <p:cNvGrpSpPr/>
          <p:nvPr/>
        </p:nvGrpSpPr>
        <p:grpSpPr>
          <a:xfrm rot="66143">
            <a:off x="2628412" y="1706613"/>
            <a:ext cx="4198381" cy="793601"/>
            <a:chOff x="0" y="-38100"/>
            <a:chExt cx="2580600" cy="487800"/>
          </a:xfrm>
        </p:grpSpPr>
        <p:sp>
          <p:nvSpPr>
            <p:cNvPr id="622" name="Google Shape;622;p43"/>
            <p:cNvSpPr/>
            <p:nvPr/>
          </p:nvSpPr>
          <p:spPr>
            <a:xfrm>
              <a:off x="0" y="0"/>
              <a:ext cx="2580519" cy="449569"/>
            </a:xfrm>
            <a:custGeom>
              <a:rect b="b" l="l" r="r" t="t"/>
              <a:pathLst>
                <a:path extrusionOk="0" h="449569" w="2580519">
                  <a:moveTo>
                    <a:pt x="0" y="0"/>
                  </a:moveTo>
                  <a:lnTo>
                    <a:pt x="2580519" y="0"/>
                  </a:lnTo>
                  <a:lnTo>
                    <a:pt x="2580519" y="449569"/>
                  </a:lnTo>
                  <a:lnTo>
                    <a:pt x="0" y="449569"/>
                  </a:lnTo>
                  <a:close/>
                </a:path>
              </a:pathLst>
            </a:custGeom>
            <a:noFill/>
            <a:ln cap="sq" cmpd="sng" w="10300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3" name="Google Shape;623;p43"/>
            <p:cNvSpPr txBox="1"/>
            <p:nvPr/>
          </p:nvSpPr>
          <p:spPr>
            <a:xfrm>
              <a:off x="0" y="-38100"/>
              <a:ext cx="2580600" cy="48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4" name="Google Shape;624;p43"/>
          <p:cNvGrpSpPr/>
          <p:nvPr/>
        </p:nvGrpSpPr>
        <p:grpSpPr>
          <a:xfrm rot="65949">
            <a:off x="947876" y="2590344"/>
            <a:ext cx="3303543" cy="1023719"/>
            <a:chOff x="0" y="-38100"/>
            <a:chExt cx="2192747" cy="679500"/>
          </a:xfrm>
        </p:grpSpPr>
        <p:sp>
          <p:nvSpPr>
            <p:cNvPr id="625" name="Google Shape;625;p43"/>
            <p:cNvSpPr/>
            <p:nvPr/>
          </p:nvSpPr>
          <p:spPr>
            <a:xfrm>
              <a:off x="0" y="0"/>
              <a:ext cx="2192747" cy="641399"/>
            </a:xfrm>
            <a:custGeom>
              <a:rect b="b" l="l" r="r" t="t"/>
              <a:pathLst>
                <a:path extrusionOk="0" h="641399" w="2192747">
                  <a:moveTo>
                    <a:pt x="0" y="0"/>
                  </a:moveTo>
                  <a:lnTo>
                    <a:pt x="2192747" y="0"/>
                  </a:lnTo>
                  <a:lnTo>
                    <a:pt x="2192747" y="641399"/>
                  </a:lnTo>
                  <a:lnTo>
                    <a:pt x="0" y="641399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FF914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6" name="Google Shape;626;p43"/>
            <p:cNvSpPr txBox="1"/>
            <p:nvPr/>
          </p:nvSpPr>
          <p:spPr>
            <a:xfrm>
              <a:off x="0" y="-38100"/>
              <a:ext cx="2192700" cy="6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7" name="Google Shape;627;p43"/>
          <p:cNvGrpSpPr/>
          <p:nvPr/>
        </p:nvGrpSpPr>
        <p:grpSpPr>
          <a:xfrm rot="-65949">
            <a:off x="1255548" y="3842528"/>
            <a:ext cx="2994456" cy="1051870"/>
            <a:chOff x="0" y="-38100"/>
            <a:chExt cx="1987589" cy="698185"/>
          </a:xfrm>
        </p:grpSpPr>
        <p:sp>
          <p:nvSpPr>
            <p:cNvPr id="628" name="Google Shape;628;p43"/>
            <p:cNvSpPr/>
            <p:nvPr/>
          </p:nvSpPr>
          <p:spPr>
            <a:xfrm>
              <a:off x="0" y="0"/>
              <a:ext cx="1987589" cy="660085"/>
            </a:xfrm>
            <a:custGeom>
              <a:rect b="b" l="l" r="r" t="t"/>
              <a:pathLst>
                <a:path extrusionOk="0" h="660085" w="1987589">
                  <a:moveTo>
                    <a:pt x="0" y="0"/>
                  </a:moveTo>
                  <a:lnTo>
                    <a:pt x="1987589" y="0"/>
                  </a:lnTo>
                  <a:lnTo>
                    <a:pt x="1987589" y="660085"/>
                  </a:lnTo>
                  <a:lnTo>
                    <a:pt x="0" y="660085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BF6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29" name="Google Shape;629;p43"/>
            <p:cNvSpPr txBox="1"/>
            <p:nvPr/>
          </p:nvSpPr>
          <p:spPr>
            <a:xfrm>
              <a:off x="0" y="-38100"/>
              <a:ext cx="1987500" cy="6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0" name="Google Shape;630;p43"/>
          <p:cNvGrpSpPr/>
          <p:nvPr/>
        </p:nvGrpSpPr>
        <p:grpSpPr>
          <a:xfrm rot="-65949">
            <a:off x="4897433" y="2570794"/>
            <a:ext cx="3201778" cy="1044510"/>
            <a:chOff x="0" y="-38100"/>
            <a:chExt cx="2125200" cy="693300"/>
          </a:xfrm>
        </p:grpSpPr>
        <p:sp>
          <p:nvSpPr>
            <p:cNvPr id="631" name="Google Shape;631;p43"/>
            <p:cNvSpPr/>
            <p:nvPr/>
          </p:nvSpPr>
          <p:spPr>
            <a:xfrm>
              <a:off x="0" y="0"/>
              <a:ext cx="2125131" cy="655057"/>
            </a:xfrm>
            <a:custGeom>
              <a:rect b="b" l="l" r="r" t="t"/>
              <a:pathLst>
                <a:path extrusionOk="0" h="655057" w="2125131">
                  <a:moveTo>
                    <a:pt x="0" y="0"/>
                  </a:moveTo>
                  <a:lnTo>
                    <a:pt x="2125131" y="0"/>
                  </a:lnTo>
                  <a:lnTo>
                    <a:pt x="2125131" y="655057"/>
                  </a:lnTo>
                  <a:lnTo>
                    <a:pt x="0" y="655057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00BF6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2" name="Google Shape;632;p43"/>
            <p:cNvSpPr txBox="1"/>
            <p:nvPr/>
          </p:nvSpPr>
          <p:spPr>
            <a:xfrm>
              <a:off x="0" y="-38100"/>
              <a:ext cx="2125200" cy="6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3" name="Google Shape;633;p43"/>
          <p:cNvGrpSpPr/>
          <p:nvPr/>
        </p:nvGrpSpPr>
        <p:grpSpPr>
          <a:xfrm rot="65949">
            <a:off x="4924595" y="3849399"/>
            <a:ext cx="3715363" cy="1038182"/>
            <a:chOff x="0" y="-38100"/>
            <a:chExt cx="2466095" cy="689100"/>
          </a:xfrm>
        </p:grpSpPr>
        <p:sp>
          <p:nvSpPr>
            <p:cNvPr id="634" name="Google Shape;634;p43"/>
            <p:cNvSpPr/>
            <p:nvPr/>
          </p:nvSpPr>
          <p:spPr>
            <a:xfrm>
              <a:off x="0" y="0"/>
              <a:ext cx="2466095" cy="650897"/>
            </a:xfrm>
            <a:custGeom>
              <a:rect b="b" l="l" r="r" t="t"/>
              <a:pathLst>
                <a:path extrusionOk="0" h="650897" w="2466095">
                  <a:moveTo>
                    <a:pt x="0" y="0"/>
                  </a:moveTo>
                  <a:lnTo>
                    <a:pt x="2466095" y="0"/>
                  </a:lnTo>
                  <a:lnTo>
                    <a:pt x="2466095" y="650897"/>
                  </a:lnTo>
                  <a:lnTo>
                    <a:pt x="0" y="650897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FF57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635" name="Google Shape;635;p43"/>
            <p:cNvSpPr txBox="1"/>
            <p:nvPr/>
          </p:nvSpPr>
          <p:spPr>
            <a:xfrm>
              <a:off x="0" y="-38100"/>
              <a:ext cx="24660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6" name="Google Shape;636;p43"/>
          <p:cNvGrpSpPr/>
          <p:nvPr/>
        </p:nvGrpSpPr>
        <p:grpSpPr>
          <a:xfrm rot="-197971">
            <a:off x="1316961" y="1076257"/>
            <a:ext cx="6459127" cy="541415"/>
            <a:chOff x="0" y="-38100"/>
            <a:chExt cx="3942300" cy="384381"/>
          </a:xfrm>
        </p:grpSpPr>
        <p:sp>
          <p:nvSpPr>
            <p:cNvPr id="637" name="Google Shape;637;p43"/>
            <p:cNvSpPr/>
            <p:nvPr/>
          </p:nvSpPr>
          <p:spPr>
            <a:xfrm>
              <a:off x="0" y="0"/>
              <a:ext cx="3942275" cy="346281"/>
            </a:xfrm>
            <a:custGeom>
              <a:rect b="b" l="l" r="r" t="t"/>
              <a:pathLst>
                <a:path extrusionOk="0" h="346281" w="3942275">
                  <a:moveTo>
                    <a:pt x="0" y="0"/>
                  </a:moveTo>
                  <a:lnTo>
                    <a:pt x="3942275" y="0"/>
                  </a:lnTo>
                  <a:lnTo>
                    <a:pt x="3942275" y="346281"/>
                  </a:lnTo>
                  <a:lnTo>
                    <a:pt x="0" y="346281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638" name="Google Shape;638;p43"/>
            <p:cNvSpPr txBox="1"/>
            <p:nvPr/>
          </p:nvSpPr>
          <p:spPr>
            <a:xfrm>
              <a:off x="0" y="-38100"/>
              <a:ext cx="3942300" cy="38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9" name="Google Shape;639;p43"/>
          <p:cNvGrpSpPr/>
          <p:nvPr/>
        </p:nvGrpSpPr>
        <p:grpSpPr>
          <a:xfrm>
            <a:off x="514350" y="447450"/>
            <a:ext cx="133787" cy="133787"/>
            <a:chOff x="0" y="0"/>
            <a:chExt cx="812800" cy="812800"/>
          </a:xfrm>
        </p:grpSpPr>
        <p:sp>
          <p:nvSpPr>
            <p:cNvPr id="640" name="Google Shape;640;p4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p43"/>
          <p:cNvGrpSpPr/>
          <p:nvPr/>
        </p:nvGrpSpPr>
        <p:grpSpPr>
          <a:xfrm>
            <a:off x="742379" y="447450"/>
            <a:ext cx="133787" cy="133787"/>
            <a:chOff x="0" y="0"/>
            <a:chExt cx="812800" cy="812800"/>
          </a:xfrm>
        </p:grpSpPr>
        <p:sp>
          <p:nvSpPr>
            <p:cNvPr id="643" name="Google Shape;643;p4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43"/>
          <p:cNvGrpSpPr/>
          <p:nvPr/>
        </p:nvGrpSpPr>
        <p:grpSpPr>
          <a:xfrm>
            <a:off x="971293" y="447450"/>
            <a:ext cx="133787" cy="133787"/>
            <a:chOff x="0" y="0"/>
            <a:chExt cx="812800" cy="812800"/>
          </a:xfrm>
        </p:grpSpPr>
        <p:sp>
          <p:nvSpPr>
            <p:cNvPr id="646" name="Google Shape;646;p4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43"/>
          <p:cNvSpPr/>
          <p:nvPr/>
        </p:nvSpPr>
        <p:spPr>
          <a:xfrm>
            <a:off x="5053885" y="4032853"/>
            <a:ext cx="213808" cy="275700"/>
          </a:xfrm>
          <a:custGeom>
            <a:rect b="b" l="l" r="r" t="t"/>
            <a:pathLst>
              <a:path extrusionOk="0" h="551399" w="427616">
                <a:moveTo>
                  <a:pt x="0" y="0"/>
                </a:moveTo>
                <a:lnTo>
                  <a:pt x="427616" y="0"/>
                </a:lnTo>
                <a:lnTo>
                  <a:pt x="427616" y="551399"/>
                </a:lnTo>
                <a:lnTo>
                  <a:pt x="0" y="5513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9" name="Google Shape;649;p43"/>
          <p:cNvSpPr txBox="1"/>
          <p:nvPr/>
        </p:nvSpPr>
        <p:spPr>
          <a:xfrm>
            <a:off x="2909888" y="1847850"/>
            <a:ext cx="33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From DAX generation to security guardrails — MCP servers eliminate repetitive tasks and enforce enterprise standards automatically.</a:t>
            </a:r>
            <a:endParaRPr sz="700"/>
          </a:p>
        </p:txBody>
      </p:sp>
      <p:sp>
        <p:nvSpPr>
          <p:cNvPr id="650" name="Google Shape;650;p43"/>
          <p:cNvSpPr txBox="1"/>
          <p:nvPr/>
        </p:nvSpPr>
        <p:spPr>
          <a:xfrm rot="-198438">
            <a:off x="1429810" y="1215015"/>
            <a:ext cx="6193315" cy="307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AUTOMATING POWER BI DEVELOPMENT</a:t>
            </a:r>
            <a:endParaRPr sz="700"/>
          </a:p>
        </p:txBody>
      </p:sp>
      <p:sp>
        <p:nvSpPr>
          <p:cNvPr id="651" name="Google Shape;651;p43"/>
          <p:cNvSpPr txBox="1"/>
          <p:nvPr/>
        </p:nvSpPr>
        <p:spPr>
          <a:xfrm>
            <a:off x="1418672" y="3001149"/>
            <a:ext cx="267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Create full calendar date tables instantly</a:t>
            </a:r>
            <a:endParaRPr sz="700"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Batch-generate MTD, QTD &amp; YTD measures in seconds</a:t>
            </a:r>
            <a:endParaRPr sz="700"/>
          </a:p>
        </p:txBody>
      </p:sp>
      <p:sp>
        <p:nvSpPr>
          <p:cNvPr id="652" name="Google Shape;652;p43"/>
          <p:cNvSpPr txBox="1"/>
          <p:nvPr/>
        </p:nvSpPr>
        <p:spPr>
          <a:xfrm>
            <a:off x="5345468" y="3001149"/>
            <a:ext cx="276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Auto-generate code comments inside DAX</a:t>
            </a:r>
            <a:endParaRPr sz="700"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Auto-populate metadata for compliance</a:t>
            </a:r>
            <a:endParaRPr sz="700"/>
          </a:p>
        </p:txBody>
      </p:sp>
      <p:sp>
        <p:nvSpPr>
          <p:cNvPr id="653" name="Google Shape;653;p43"/>
          <p:cNvSpPr txBox="1"/>
          <p:nvPr/>
        </p:nvSpPr>
        <p:spPr>
          <a:xfrm>
            <a:off x="1633070" y="4277606"/>
            <a:ext cx="2626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Scan model layout for architecture errors</a:t>
            </a:r>
            <a:endParaRPr sz="700"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Enforce enterprise naming conventions</a:t>
            </a:r>
            <a:endParaRPr sz="700"/>
          </a:p>
        </p:txBody>
      </p:sp>
      <p:sp>
        <p:nvSpPr>
          <p:cNvPr id="654" name="Google Shape;654;p43"/>
          <p:cNvSpPr txBox="1"/>
          <p:nvPr/>
        </p:nvSpPr>
        <p:spPr>
          <a:xfrm>
            <a:off x="5354616" y="4218214"/>
            <a:ext cx="3283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MCP runs locally, credentials via Azure Identity SDK</a:t>
            </a:r>
            <a:endParaRPr sz="700"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 Use --read-only mode to inspect schemas safely</a:t>
            </a:r>
            <a:endParaRPr sz="700"/>
          </a:p>
        </p:txBody>
      </p:sp>
      <p:sp>
        <p:nvSpPr>
          <p:cNvPr id="655" name="Google Shape;655;p43"/>
          <p:cNvSpPr txBox="1"/>
          <p:nvPr/>
        </p:nvSpPr>
        <p:spPr>
          <a:xfrm>
            <a:off x="1417066" y="2733459"/>
            <a:ext cx="191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DAX &amp; Time Intelligence</a:t>
            </a:r>
            <a:endParaRPr sz="700"/>
          </a:p>
        </p:txBody>
      </p:sp>
      <p:sp>
        <p:nvSpPr>
          <p:cNvPr id="656" name="Google Shape;656;p43"/>
          <p:cNvSpPr txBox="1"/>
          <p:nvPr/>
        </p:nvSpPr>
        <p:spPr>
          <a:xfrm>
            <a:off x="5344388" y="2733459"/>
            <a:ext cx="270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Bulk Documentation</a:t>
            </a:r>
            <a:endParaRPr sz="700"/>
          </a:p>
        </p:txBody>
      </p:sp>
      <p:sp>
        <p:nvSpPr>
          <p:cNvPr id="657" name="Google Shape;657;p43"/>
          <p:cNvSpPr txBox="1"/>
          <p:nvPr/>
        </p:nvSpPr>
        <p:spPr>
          <a:xfrm>
            <a:off x="1631538" y="4009041"/>
            <a:ext cx="1667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Best Practice Auditing</a:t>
            </a:r>
            <a:endParaRPr sz="700"/>
          </a:p>
        </p:txBody>
      </p:sp>
      <p:sp>
        <p:nvSpPr>
          <p:cNvPr id="658" name="Google Shape;658;p43"/>
          <p:cNvSpPr txBox="1"/>
          <p:nvPr/>
        </p:nvSpPr>
        <p:spPr>
          <a:xfrm>
            <a:off x="5353418" y="3949648"/>
            <a:ext cx="289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⚠️ Secure AI Data Handling</a:t>
            </a:r>
            <a:endParaRPr sz="700"/>
          </a:p>
        </p:txBody>
      </p:sp>
      <p:sp>
        <p:nvSpPr>
          <p:cNvPr id="659" name="Google Shape;659;p43"/>
          <p:cNvSpPr txBox="1"/>
          <p:nvPr/>
        </p:nvSpPr>
        <p:spPr>
          <a:xfrm>
            <a:off x="7321414" y="420535"/>
            <a:ext cx="1308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Application</a:t>
            </a:r>
            <a:endParaRPr sz="700"/>
          </a:p>
        </p:txBody>
      </p:sp>
      <p:sp>
        <p:nvSpPr>
          <p:cNvPr id="660" name="Google Shape;660;p43"/>
          <p:cNvSpPr/>
          <p:nvPr/>
        </p:nvSpPr>
        <p:spPr>
          <a:xfrm>
            <a:off x="8930418" y="2088750"/>
            <a:ext cx="213582" cy="1691739"/>
          </a:xfrm>
          <a:custGeom>
            <a:rect b="b" l="l" r="r" t="t"/>
            <a:pathLst>
              <a:path extrusionOk="0" h="3383478" w="427164">
                <a:moveTo>
                  <a:pt x="0" y="0"/>
                </a:moveTo>
                <a:lnTo>
                  <a:pt x="427164" y="0"/>
                </a:lnTo>
                <a:lnTo>
                  <a:pt x="427164" y="3383478"/>
                </a:lnTo>
                <a:lnTo>
                  <a:pt x="0" y="338347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cxnSp>
        <p:nvCxnSpPr>
          <p:cNvPr id="661" name="Google Shape;661;p43"/>
          <p:cNvCxnSpPr/>
          <p:nvPr/>
        </p:nvCxnSpPr>
        <p:spPr>
          <a:xfrm>
            <a:off x="1325880" y="509588"/>
            <a:ext cx="5782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3"/>
          <p:cNvCxnSpPr/>
          <p:nvPr/>
        </p:nvCxnSpPr>
        <p:spPr>
          <a:xfrm rot="10800000">
            <a:off x="4583906" y="2890771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3"/>
          <p:cNvCxnSpPr/>
          <p:nvPr/>
        </p:nvCxnSpPr>
        <p:spPr>
          <a:xfrm rot="10800000">
            <a:off x="4588669" y="4096631"/>
            <a:ext cx="0" cy="2667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3"/>
          <p:cNvSpPr/>
          <p:nvPr/>
        </p:nvSpPr>
        <p:spPr>
          <a:xfrm>
            <a:off x="1054418" y="2829699"/>
            <a:ext cx="257175" cy="261938"/>
          </a:xfrm>
          <a:custGeom>
            <a:rect b="b" l="l" r="r" t="t"/>
            <a:pathLst>
              <a:path extrusionOk="0" h="523875" w="514350">
                <a:moveTo>
                  <a:pt x="0" y="0"/>
                </a:moveTo>
                <a:lnTo>
                  <a:pt x="514350" y="0"/>
                </a:lnTo>
                <a:lnTo>
                  <a:pt x="51435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5" name="Google Shape;665;p43"/>
          <p:cNvSpPr/>
          <p:nvPr/>
        </p:nvSpPr>
        <p:spPr>
          <a:xfrm>
            <a:off x="1325880" y="4096631"/>
            <a:ext cx="228600" cy="300038"/>
          </a:xfrm>
          <a:custGeom>
            <a:rect b="b" l="l" r="r" t="t"/>
            <a:pathLst>
              <a:path extrusionOk="0" h="600075" w="457200">
                <a:moveTo>
                  <a:pt x="0" y="0"/>
                </a:moveTo>
                <a:lnTo>
                  <a:pt x="457200" y="0"/>
                </a:lnTo>
                <a:lnTo>
                  <a:pt x="457200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6" name="Google Shape;666;p43"/>
          <p:cNvSpPr/>
          <p:nvPr/>
        </p:nvSpPr>
        <p:spPr>
          <a:xfrm>
            <a:off x="4996725" y="2815411"/>
            <a:ext cx="242888" cy="280988"/>
          </a:xfrm>
          <a:custGeom>
            <a:rect b="b" l="l" r="r" t="t"/>
            <a:pathLst>
              <a:path extrusionOk="0" h="561975" w="485775">
                <a:moveTo>
                  <a:pt x="0" y="0"/>
                </a:moveTo>
                <a:lnTo>
                  <a:pt x="485775" y="0"/>
                </a:lnTo>
                <a:lnTo>
                  <a:pt x="485775" y="561975"/>
                </a:lnTo>
                <a:lnTo>
                  <a:pt x="0" y="561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67" name="Google Shape;667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446623">
            <a:off x="2306160" y="2120131"/>
            <a:ext cx="586963" cy="58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99700" y="1971739"/>
            <a:ext cx="242887" cy="1925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44"/>
          <p:cNvGrpSpPr/>
          <p:nvPr/>
        </p:nvGrpSpPr>
        <p:grpSpPr>
          <a:xfrm>
            <a:off x="514350" y="433388"/>
            <a:ext cx="138150" cy="152438"/>
            <a:chOff x="0" y="-38100"/>
            <a:chExt cx="368400" cy="406500"/>
          </a:xfrm>
        </p:grpSpPr>
        <p:sp>
          <p:nvSpPr>
            <p:cNvPr id="674" name="Google Shape;674;p44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4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6" name="Google Shape;676;p44"/>
          <p:cNvGrpSpPr/>
          <p:nvPr/>
        </p:nvGrpSpPr>
        <p:grpSpPr>
          <a:xfrm>
            <a:off x="742950" y="433388"/>
            <a:ext cx="138150" cy="152438"/>
            <a:chOff x="0" y="-38100"/>
            <a:chExt cx="368400" cy="406500"/>
          </a:xfrm>
        </p:grpSpPr>
        <p:sp>
          <p:nvSpPr>
            <p:cNvPr id="677" name="Google Shape;677;p44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4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44"/>
          <p:cNvGrpSpPr/>
          <p:nvPr/>
        </p:nvGrpSpPr>
        <p:grpSpPr>
          <a:xfrm>
            <a:off x="971550" y="433388"/>
            <a:ext cx="138150" cy="152438"/>
            <a:chOff x="0" y="-38100"/>
            <a:chExt cx="368400" cy="406500"/>
          </a:xfrm>
        </p:grpSpPr>
        <p:sp>
          <p:nvSpPr>
            <p:cNvPr id="680" name="Google Shape;680;p44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4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82" name="Google Shape;682;p44"/>
          <p:cNvCxnSpPr/>
          <p:nvPr/>
        </p:nvCxnSpPr>
        <p:spPr>
          <a:xfrm>
            <a:off x="1323975" y="509588"/>
            <a:ext cx="57864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3" name="Google Shape;683;p44"/>
          <p:cNvSpPr txBox="1"/>
          <p:nvPr/>
        </p:nvSpPr>
        <p:spPr>
          <a:xfrm>
            <a:off x="7315200" y="419100"/>
            <a:ext cx="130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  <a:endParaRPr sz="700"/>
          </a:p>
        </p:txBody>
      </p:sp>
      <p:grpSp>
        <p:nvGrpSpPr>
          <p:cNvPr id="684" name="Google Shape;684;p44"/>
          <p:cNvGrpSpPr/>
          <p:nvPr/>
        </p:nvGrpSpPr>
        <p:grpSpPr>
          <a:xfrm>
            <a:off x="400605" y="1561780"/>
            <a:ext cx="2553005" cy="2716169"/>
            <a:chOff x="0" y="-38100"/>
            <a:chExt cx="4572000" cy="4864200"/>
          </a:xfrm>
        </p:grpSpPr>
        <p:sp>
          <p:nvSpPr>
            <p:cNvPr id="685" name="Google Shape;685;p44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4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7" name="Google Shape;687;p44"/>
          <p:cNvGrpSpPr/>
          <p:nvPr/>
        </p:nvGrpSpPr>
        <p:grpSpPr>
          <a:xfrm>
            <a:off x="3241262" y="1590593"/>
            <a:ext cx="2499055" cy="2658772"/>
            <a:chOff x="0" y="-38100"/>
            <a:chExt cx="4572000" cy="4864200"/>
          </a:xfrm>
        </p:grpSpPr>
        <p:sp>
          <p:nvSpPr>
            <p:cNvPr id="688" name="Google Shape;688;p44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4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44"/>
          <p:cNvGrpSpPr/>
          <p:nvPr/>
        </p:nvGrpSpPr>
        <p:grpSpPr>
          <a:xfrm>
            <a:off x="6028176" y="1575988"/>
            <a:ext cx="2499055" cy="2658772"/>
            <a:chOff x="0" y="-38100"/>
            <a:chExt cx="4572000" cy="4864200"/>
          </a:xfrm>
        </p:grpSpPr>
        <p:sp>
          <p:nvSpPr>
            <p:cNvPr id="691" name="Google Shape;691;p44"/>
            <p:cNvSpPr/>
            <p:nvPr/>
          </p:nvSpPr>
          <p:spPr>
            <a:xfrm>
              <a:off x="0" y="0"/>
              <a:ext cx="4572000" cy="4826000"/>
            </a:xfrm>
            <a:custGeom>
              <a:rect b="b" l="l" r="r" t="t"/>
              <a:pathLst>
                <a:path extrusionOk="0" h="4826000" w="4572000">
                  <a:moveTo>
                    <a:pt x="457200" y="0"/>
                  </a:moveTo>
                  <a:lnTo>
                    <a:pt x="4114800" y="0"/>
                  </a:lnTo>
                  <a:cubicBezTo>
                    <a:pt x="4367305" y="0"/>
                    <a:pt x="4572000" y="204695"/>
                    <a:pt x="4572000" y="457200"/>
                  </a:cubicBezTo>
                  <a:lnTo>
                    <a:pt x="4572000" y="4368800"/>
                  </a:lnTo>
                  <a:cubicBezTo>
                    <a:pt x="4572000" y="4621305"/>
                    <a:pt x="4367305" y="4826000"/>
                    <a:pt x="4114800" y="4826000"/>
                  </a:cubicBezTo>
                  <a:lnTo>
                    <a:pt x="457200" y="4826000"/>
                  </a:lnTo>
                  <a:cubicBezTo>
                    <a:pt x="204695" y="4826000"/>
                    <a:pt x="0" y="4621305"/>
                    <a:pt x="0" y="4368800"/>
                  </a:cubicBezTo>
                  <a:lnTo>
                    <a:pt x="0" y="457200"/>
                  </a:ln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4775">
              <a:solidFill>
                <a:srgbClr val="E0E0E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4"/>
            <p:cNvSpPr txBox="1"/>
            <p:nvPr/>
          </p:nvSpPr>
          <p:spPr>
            <a:xfrm>
              <a:off x="0" y="-38100"/>
              <a:ext cx="4572000" cy="48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3" name="Google Shape;693;p44"/>
          <p:cNvSpPr txBox="1"/>
          <p:nvPr/>
        </p:nvSpPr>
        <p:spPr>
          <a:xfrm rot="614741">
            <a:off x="6994487" y="3792994"/>
            <a:ext cx="1663018" cy="184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304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mcp_config.json</a:t>
            </a:r>
            <a:endParaRPr b="1" i="0" sz="1200" u="none" cap="none" strike="noStrike">
              <a:solidFill>
                <a:srgbClr val="1A1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44"/>
          <p:cNvSpPr txBox="1"/>
          <p:nvPr/>
        </p:nvSpPr>
        <p:spPr>
          <a:xfrm>
            <a:off x="3369207" y="2571750"/>
            <a:ext cx="21519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sng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https://learn.microsoft.com/en-us/power-bi/developer/agentic/power-bi-report-authoring-skill-overview</a:t>
            </a:r>
            <a:endParaRPr b="0" i="0" sz="9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sng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https://github.com/microsoft/skills-for-fabric  </a:t>
            </a:r>
            <a:endParaRPr b="0" i="0" sz="9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95" name="Google Shape;695;p44"/>
          <p:cNvCxnSpPr/>
          <p:nvPr/>
        </p:nvCxnSpPr>
        <p:spPr>
          <a:xfrm>
            <a:off x="6167007" y="4179071"/>
            <a:ext cx="22215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44"/>
          <p:cNvSpPr txBox="1"/>
          <p:nvPr/>
        </p:nvSpPr>
        <p:spPr>
          <a:xfrm>
            <a:off x="3380093" y="2281761"/>
            <a:ext cx="2221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Authoring</a:t>
            </a:r>
            <a:endParaRPr sz="700"/>
          </a:p>
        </p:txBody>
      </p:sp>
      <p:cxnSp>
        <p:nvCxnSpPr>
          <p:cNvPr id="697" name="Google Shape;697;p44"/>
          <p:cNvCxnSpPr/>
          <p:nvPr/>
        </p:nvCxnSpPr>
        <p:spPr>
          <a:xfrm>
            <a:off x="3380093" y="4193676"/>
            <a:ext cx="22215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44"/>
          <p:cNvSpPr txBox="1"/>
          <p:nvPr/>
        </p:nvSpPr>
        <p:spPr>
          <a:xfrm>
            <a:off x="577876" y="2542434"/>
            <a:ext cx="2198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sng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https://learn.microsoft.com/en-us/power-bi/developer/mcp/</a:t>
            </a:r>
            <a:endParaRPr b="0" i="0" sz="1000" u="sng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sng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sng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https://github.com/microsoft/powerbi-modeling-mcp</a:t>
            </a: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0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542422" y="2263564"/>
            <a:ext cx="2269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ontserrat"/>
              <a:buNone/>
            </a:pPr>
            <a:r>
              <a:rPr b="1" i="0" lang="en" sz="13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Local MCP</a:t>
            </a:r>
            <a:endParaRPr sz="700"/>
          </a:p>
        </p:txBody>
      </p:sp>
      <p:cxnSp>
        <p:nvCxnSpPr>
          <p:cNvPr id="700" name="Google Shape;700;p44"/>
          <p:cNvCxnSpPr/>
          <p:nvPr/>
        </p:nvCxnSpPr>
        <p:spPr>
          <a:xfrm>
            <a:off x="542422" y="4220845"/>
            <a:ext cx="2269200" cy="0"/>
          </a:xfrm>
          <a:prstGeom prst="straightConnector1">
            <a:avLst/>
          </a:prstGeom>
          <a:noFill/>
          <a:ln cap="rnd" cmpd="sng" w="28575">
            <a:solidFill>
              <a:srgbClr val="7B0A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44"/>
          <p:cNvSpPr/>
          <p:nvPr/>
        </p:nvSpPr>
        <p:spPr>
          <a:xfrm>
            <a:off x="1499685" y="1795780"/>
            <a:ext cx="354541" cy="354542"/>
          </a:xfrm>
          <a:custGeom>
            <a:rect b="b" l="l" r="r" t="t"/>
            <a:pathLst>
              <a:path extrusionOk="0" h="709083" w="709083">
                <a:moveTo>
                  <a:pt x="0" y="0"/>
                </a:moveTo>
                <a:lnTo>
                  <a:pt x="709083" y="0"/>
                </a:lnTo>
                <a:lnTo>
                  <a:pt x="709083" y="709083"/>
                </a:lnTo>
                <a:lnTo>
                  <a:pt x="0" y="709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2" name="Google Shape;702;p44"/>
          <p:cNvSpPr/>
          <p:nvPr/>
        </p:nvSpPr>
        <p:spPr>
          <a:xfrm>
            <a:off x="4317202" y="1819665"/>
            <a:ext cx="347078" cy="347078"/>
          </a:xfrm>
          <a:custGeom>
            <a:rect b="b" l="l" r="r" t="t"/>
            <a:pathLst>
              <a:path extrusionOk="0" h="694155" w="694155">
                <a:moveTo>
                  <a:pt x="0" y="0"/>
                </a:moveTo>
                <a:lnTo>
                  <a:pt x="694155" y="0"/>
                </a:lnTo>
                <a:lnTo>
                  <a:pt x="694155" y="694155"/>
                </a:lnTo>
                <a:lnTo>
                  <a:pt x="0" y="694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03" name="Google Shape;703;p44"/>
          <p:cNvGrpSpPr/>
          <p:nvPr/>
        </p:nvGrpSpPr>
        <p:grpSpPr>
          <a:xfrm rot="60498">
            <a:off x="2381394" y="820426"/>
            <a:ext cx="4382216" cy="442979"/>
            <a:chOff x="0" y="-38100"/>
            <a:chExt cx="11684100" cy="1181100"/>
          </a:xfrm>
        </p:grpSpPr>
        <p:sp>
          <p:nvSpPr>
            <p:cNvPr id="704" name="Google Shape;704;p44"/>
            <p:cNvSpPr/>
            <p:nvPr/>
          </p:nvSpPr>
          <p:spPr>
            <a:xfrm>
              <a:off x="0" y="0"/>
              <a:ext cx="11684000" cy="1143000"/>
            </a:xfrm>
            <a:custGeom>
              <a:rect b="b" l="l" r="r" t="t"/>
              <a:pathLst>
                <a:path extrusionOk="0" h="1143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F2B8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05" name="Google Shape;705;p44"/>
            <p:cNvSpPr txBox="1"/>
            <p:nvPr/>
          </p:nvSpPr>
          <p:spPr>
            <a:xfrm>
              <a:off x="0" y="-38100"/>
              <a:ext cx="116841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6" name="Google Shape;706;p44"/>
          <p:cNvSpPr txBox="1"/>
          <p:nvPr/>
        </p:nvSpPr>
        <p:spPr>
          <a:xfrm rot="60046">
            <a:off x="2476966" y="929673"/>
            <a:ext cx="4191039" cy="21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ontserrat"/>
              <a:buNone/>
            </a:pPr>
            <a:r>
              <a:rPr b="1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Resources</a:t>
            </a:r>
            <a:endParaRPr sz="700"/>
          </a:p>
        </p:txBody>
      </p:sp>
      <p:sp>
        <p:nvSpPr>
          <p:cNvPr id="707" name="Google Shape;707;p44"/>
          <p:cNvSpPr txBox="1"/>
          <p:nvPr/>
        </p:nvSpPr>
        <p:spPr>
          <a:xfrm>
            <a:off x="3380093" y="2571750"/>
            <a:ext cx="2198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sng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  <a:hlinkClick r:id="rId11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708" name="Google Shape;708;p44"/>
          <p:cNvSpPr txBox="1"/>
          <p:nvPr/>
        </p:nvSpPr>
        <p:spPr>
          <a:xfrm>
            <a:off x="6167007" y="1653061"/>
            <a:ext cx="2221500" cy="29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"mcpServers": {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"powerbi-modeling-mcp": {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"type": "stdio",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"command": "npx",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"args": [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  "-y",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"@microsoft/powerbi-modeling-mcp@latest",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  "--start"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  ]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  }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 }</a:t>
            </a:r>
            <a:endParaRPr sz="700"/>
          </a:p>
          <a:p>
            <a:pPr indent="0" lvl="0" marL="0" marR="0" rtl="0" algn="l">
              <a:lnSpc>
                <a:spcPct val="15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b="0" i="0" sz="900" u="none" cap="none" strike="noStrike">
              <a:solidFill>
                <a:srgbClr val="4A4A4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7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45"/>
          <p:cNvGrpSpPr/>
          <p:nvPr/>
        </p:nvGrpSpPr>
        <p:grpSpPr>
          <a:xfrm>
            <a:off x="514350" y="433388"/>
            <a:ext cx="138150" cy="152438"/>
            <a:chOff x="0" y="-38100"/>
            <a:chExt cx="368400" cy="406500"/>
          </a:xfrm>
        </p:grpSpPr>
        <p:sp>
          <p:nvSpPr>
            <p:cNvPr id="714" name="Google Shape;714;p45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5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45"/>
          <p:cNvGrpSpPr/>
          <p:nvPr/>
        </p:nvGrpSpPr>
        <p:grpSpPr>
          <a:xfrm>
            <a:off x="742950" y="433388"/>
            <a:ext cx="138150" cy="152438"/>
            <a:chOff x="0" y="-38100"/>
            <a:chExt cx="368400" cy="406500"/>
          </a:xfrm>
        </p:grpSpPr>
        <p:sp>
          <p:nvSpPr>
            <p:cNvPr id="717" name="Google Shape;717;p45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F2B8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5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p45"/>
          <p:cNvGrpSpPr/>
          <p:nvPr/>
        </p:nvGrpSpPr>
        <p:grpSpPr>
          <a:xfrm>
            <a:off x="971550" y="433388"/>
            <a:ext cx="138150" cy="152438"/>
            <a:chOff x="0" y="-38100"/>
            <a:chExt cx="368400" cy="406500"/>
          </a:xfrm>
        </p:grpSpPr>
        <p:sp>
          <p:nvSpPr>
            <p:cNvPr id="720" name="Google Shape;720;p45"/>
            <p:cNvSpPr/>
            <p:nvPr/>
          </p:nvSpPr>
          <p:spPr>
            <a:xfrm>
              <a:off x="0" y="0"/>
              <a:ext cx="368300" cy="368300"/>
            </a:xfrm>
            <a:custGeom>
              <a:rect b="b" l="l" r="r" t="t"/>
              <a:pathLst>
                <a:path extrusionOk="0" h="368300" w="368300">
                  <a:moveTo>
                    <a:pt x="184150" y="0"/>
                  </a:moveTo>
                  <a:cubicBezTo>
                    <a:pt x="82447" y="0"/>
                    <a:pt x="0" y="82447"/>
                    <a:pt x="0" y="184150"/>
                  </a:cubicBezTo>
                  <a:cubicBezTo>
                    <a:pt x="0" y="285853"/>
                    <a:pt x="82447" y="368300"/>
                    <a:pt x="184150" y="368300"/>
                  </a:cubicBezTo>
                  <a:cubicBezTo>
                    <a:pt x="285853" y="368300"/>
                    <a:pt x="368300" y="285853"/>
                    <a:pt x="368300" y="184150"/>
                  </a:cubicBezTo>
                  <a:cubicBezTo>
                    <a:pt x="368300" y="82447"/>
                    <a:pt x="285853" y="0"/>
                    <a:pt x="184150" y="0"/>
                  </a:cubicBez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5"/>
            <p:cNvSpPr txBox="1"/>
            <p:nvPr/>
          </p:nvSpPr>
          <p:spPr>
            <a:xfrm>
              <a:off x="0" y="-38100"/>
              <a:ext cx="3684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22" name="Google Shape;722;p45"/>
          <p:cNvCxnSpPr/>
          <p:nvPr/>
        </p:nvCxnSpPr>
        <p:spPr>
          <a:xfrm>
            <a:off x="1323975" y="509588"/>
            <a:ext cx="5786400" cy="0"/>
          </a:xfrm>
          <a:prstGeom prst="straightConnector1">
            <a:avLst/>
          </a:prstGeom>
          <a:noFill/>
          <a:ln cap="rnd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45"/>
          <p:cNvSpPr txBox="1"/>
          <p:nvPr/>
        </p:nvSpPr>
        <p:spPr>
          <a:xfrm>
            <a:off x="7315200" y="419100"/>
            <a:ext cx="1309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Power BI MCP Servers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Montserrat"/>
              <a:buNone/>
            </a:pPr>
            <a:r>
              <a:rPr b="0" i="0" lang="en" sz="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Demo Session</a:t>
            </a:r>
            <a:endParaRPr sz="700"/>
          </a:p>
        </p:txBody>
      </p:sp>
      <p:grpSp>
        <p:nvGrpSpPr>
          <p:cNvPr id="724" name="Google Shape;724;p45"/>
          <p:cNvGrpSpPr/>
          <p:nvPr/>
        </p:nvGrpSpPr>
        <p:grpSpPr>
          <a:xfrm rot="-120107">
            <a:off x="1428506" y="1795359"/>
            <a:ext cx="6286984" cy="538241"/>
            <a:chOff x="0" y="-38100"/>
            <a:chExt cx="16764000" cy="1435200"/>
          </a:xfrm>
        </p:grpSpPr>
        <p:sp>
          <p:nvSpPr>
            <p:cNvPr id="725" name="Google Shape;725;p45"/>
            <p:cNvSpPr/>
            <p:nvPr/>
          </p:nvSpPr>
          <p:spPr>
            <a:xfrm>
              <a:off x="0" y="0"/>
              <a:ext cx="16764000" cy="1397000"/>
            </a:xfrm>
            <a:custGeom>
              <a:rect b="b" l="l" r="r" t="t"/>
              <a:pathLst>
                <a:path extrusionOk="0" h="13970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BD152F"/>
            </a:solidFill>
            <a:ln>
              <a:noFill/>
            </a:ln>
          </p:spPr>
        </p:sp>
        <p:sp>
          <p:nvSpPr>
            <p:cNvPr id="726" name="Google Shape;726;p45"/>
            <p:cNvSpPr txBox="1"/>
            <p:nvPr/>
          </p:nvSpPr>
          <p:spPr>
            <a:xfrm>
              <a:off x="0" y="-38100"/>
              <a:ext cx="16764000" cy="14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45"/>
          <p:cNvSpPr txBox="1"/>
          <p:nvPr/>
        </p:nvSpPr>
        <p:spPr>
          <a:xfrm rot="-120026">
            <a:off x="1712995" y="1865825"/>
            <a:ext cx="5715183" cy="400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 SESSION</a:t>
            </a:r>
            <a:endParaRPr sz="700"/>
          </a:p>
        </p:txBody>
      </p:sp>
      <p:grpSp>
        <p:nvGrpSpPr>
          <p:cNvPr id="728" name="Google Shape;728;p45"/>
          <p:cNvGrpSpPr/>
          <p:nvPr/>
        </p:nvGrpSpPr>
        <p:grpSpPr>
          <a:xfrm rot="60498">
            <a:off x="2381394" y="1224286"/>
            <a:ext cx="4382216" cy="442979"/>
            <a:chOff x="0" y="-38100"/>
            <a:chExt cx="11684100" cy="1181100"/>
          </a:xfrm>
        </p:grpSpPr>
        <p:sp>
          <p:nvSpPr>
            <p:cNvPr id="729" name="Google Shape;729;p45"/>
            <p:cNvSpPr/>
            <p:nvPr/>
          </p:nvSpPr>
          <p:spPr>
            <a:xfrm>
              <a:off x="0" y="0"/>
              <a:ext cx="11684000" cy="1143000"/>
            </a:xfrm>
            <a:custGeom>
              <a:rect b="b" l="l" r="r" t="t"/>
              <a:pathLst>
                <a:path extrusionOk="0" h="1143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FFFFFF"/>
            </a:solidFill>
            <a:ln cap="sq" cmpd="sng" w="9525">
              <a:solidFill>
                <a:srgbClr val="F2B8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730" name="Google Shape;730;p45"/>
            <p:cNvSpPr txBox="1"/>
            <p:nvPr/>
          </p:nvSpPr>
          <p:spPr>
            <a:xfrm>
              <a:off x="0" y="-38100"/>
              <a:ext cx="116841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1" name="Google Shape;731;p45"/>
          <p:cNvSpPr txBox="1"/>
          <p:nvPr/>
        </p:nvSpPr>
        <p:spPr>
          <a:xfrm rot="60046">
            <a:off x="2476966" y="1333533"/>
            <a:ext cx="4191039" cy="215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ontserrat"/>
              <a:buNone/>
            </a:pPr>
            <a:r>
              <a:rPr b="0" i="0" lang="en" sz="14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Live Walkthrough: MCP Server in Action</a:t>
            </a:r>
            <a:endParaRPr sz="700"/>
          </a:p>
        </p:txBody>
      </p:sp>
      <p:sp>
        <p:nvSpPr>
          <p:cNvPr id="732" name="Google Shape;732;p45"/>
          <p:cNvSpPr txBox="1"/>
          <p:nvPr/>
        </p:nvSpPr>
        <p:spPr>
          <a:xfrm>
            <a:off x="2428875" y="2543175"/>
            <a:ext cx="4286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Watch how the Power BI MCP Server connects to your semantic model,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generates DAX measures, and enforces best practices — all from your AI assistant.</a:t>
            </a:r>
            <a:endParaRPr sz="700"/>
          </a:p>
        </p:txBody>
      </p:sp>
      <p:sp>
        <p:nvSpPr>
          <p:cNvPr id="733" name="Google Shape;733;p45"/>
          <p:cNvSpPr txBox="1"/>
          <p:nvPr/>
        </p:nvSpPr>
        <p:spPr>
          <a:xfrm>
            <a:off x="2333625" y="3552995"/>
            <a:ext cx="47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BD152F"/>
              </a:buClr>
              <a:buSzPts val="2000"/>
              <a:buFont typeface="Montserrat"/>
              <a:buNone/>
            </a:pPr>
            <a:r>
              <a:rPr b="1" i="0" lang="en" sz="2000" u="none" cap="none" strike="noStrike">
                <a:solidFill>
                  <a:srgbClr val="BD152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700"/>
          </a:p>
        </p:txBody>
      </p:sp>
      <p:sp>
        <p:nvSpPr>
          <p:cNvPr id="734" name="Google Shape;734;p45"/>
          <p:cNvSpPr txBox="1"/>
          <p:nvPr/>
        </p:nvSpPr>
        <p:spPr>
          <a:xfrm>
            <a:off x="1762125" y="3853033"/>
            <a:ext cx="161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Connect</a:t>
            </a:r>
            <a:endParaRPr sz="700"/>
          </a:p>
        </p:txBody>
      </p:sp>
      <p:sp>
        <p:nvSpPr>
          <p:cNvPr id="735" name="Google Shape;735;p45"/>
          <p:cNvSpPr txBox="1"/>
          <p:nvPr/>
        </p:nvSpPr>
        <p:spPr>
          <a:xfrm>
            <a:off x="1762125" y="3994955"/>
            <a:ext cx="161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Authorize MCP server to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your Power BI model</a:t>
            </a:r>
            <a:endParaRPr sz="700"/>
          </a:p>
        </p:txBody>
      </p:sp>
      <p:sp>
        <p:nvSpPr>
          <p:cNvPr id="736" name="Google Shape;736;p45"/>
          <p:cNvSpPr txBox="1"/>
          <p:nvPr/>
        </p:nvSpPr>
        <p:spPr>
          <a:xfrm>
            <a:off x="4333875" y="3552995"/>
            <a:ext cx="47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BD152F"/>
              </a:buClr>
              <a:buSzPts val="2000"/>
              <a:buFont typeface="Montserrat"/>
              <a:buNone/>
            </a:pPr>
            <a:r>
              <a:rPr b="1" i="0" lang="en" sz="2000" u="none" cap="none" strike="noStrike">
                <a:solidFill>
                  <a:srgbClr val="BD152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700"/>
          </a:p>
        </p:txBody>
      </p:sp>
      <p:sp>
        <p:nvSpPr>
          <p:cNvPr id="737" name="Google Shape;737;p45"/>
          <p:cNvSpPr txBox="1"/>
          <p:nvPr/>
        </p:nvSpPr>
        <p:spPr>
          <a:xfrm>
            <a:off x="3762375" y="3853033"/>
            <a:ext cx="161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Generate</a:t>
            </a:r>
            <a:endParaRPr sz="700"/>
          </a:p>
        </p:txBody>
      </p:sp>
      <p:sp>
        <p:nvSpPr>
          <p:cNvPr id="738" name="Google Shape;738;p45"/>
          <p:cNvSpPr txBox="1"/>
          <p:nvPr/>
        </p:nvSpPr>
        <p:spPr>
          <a:xfrm>
            <a:off x="3681029" y="3983208"/>
            <a:ext cx="178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Ask AI to create DAX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measures &amp; documentation</a:t>
            </a:r>
            <a:endParaRPr sz="700"/>
          </a:p>
        </p:txBody>
      </p:sp>
      <p:sp>
        <p:nvSpPr>
          <p:cNvPr id="739" name="Google Shape;739;p45"/>
          <p:cNvSpPr txBox="1"/>
          <p:nvPr/>
        </p:nvSpPr>
        <p:spPr>
          <a:xfrm>
            <a:off x="6334125" y="3552995"/>
            <a:ext cx="47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BD152F"/>
              </a:buClr>
              <a:buSzPts val="2000"/>
              <a:buFont typeface="Montserrat"/>
              <a:buNone/>
            </a:pPr>
            <a:r>
              <a:rPr b="1" i="0" lang="en" sz="2000" u="none" cap="none" strike="noStrike">
                <a:solidFill>
                  <a:srgbClr val="BD152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700"/>
          </a:p>
        </p:txBody>
      </p:sp>
      <p:sp>
        <p:nvSpPr>
          <p:cNvPr id="740" name="Google Shape;740;p45"/>
          <p:cNvSpPr txBox="1"/>
          <p:nvPr/>
        </p:nvSpPr>
        <p:spPr>
          <a:xfrm>
            <a:off x="5762625" y="3853033"/>
            <a:ext cx="161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Validate</a:t>
            </a:r>
            <a:endParaRPr sz="700"/>
          </a:p>
        </p:txBody>
      </p:sp>
      <p:sp>
        <p:nvSpPr>
          <p:cNvPr id="741" name="Google Shape;741;p45"/>
          <p:cNvSpPr txBox="1"/>
          <p:nvPr/>
        </p:nvSpPr>
        <p:spPr>
          <a:xfrm>
            <a:off x="5762625" y="3994955"/>
            <a:ext cx="161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Review output against</a:t>
            </a:r>
            <a:endParaRPr sz="7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Montserrat"/>
              <a:buNone/>
            </a:pPr>
            <a:r>
              <a:rPr b="0" i="0" lang="en" sz="1000" u="none" cap="none" strike="noStrik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enterprise standards</a:t>
            </a:r>
            <a:endParaRPr sz="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46"/>
          <p:cNvGrpSpPr/>
          <p:nvPr/>
        </p:nvGrpSpPr>
        <p:grpSpPr>
          <a:xfrm>
            <a:off x="0" y="0"/>
            <a:ext cx="9144000" cy="5143500"/>
            <a:chOff x="0" y="0"/>
            <a:chExt cx="18288000" cy="10287001"/>
          </a:xfrm>
        </p:grpSpPr>
        <p:pic>
          <p:nvPicPr>
            <p:cNvPr id="751" name="Google Shape;751;p46"/>
            <p:cNvPicPr preferRelativeResize="0"/>
            <p:nvPr/>
          </p:nvPicPr>
          <p:blipFill>
            <a:blip r:embed="rId3">
              <a:alphaModFix amt="16000"/>
            </a:blip>
            <a:stretch>
              <a:fillRect/>
            </a:stretch>
          </p:blipFill>
          <p:spPr>
            <a:xfrm>
              <a:off x="0" y="0"/>
              <a:ext cx="18288000" cy="95101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2" name="Google Shape;752;p46"/>
            <p:cNvPicPr preferRelativeResize="0"/>
            <p:nvPr/>
          </p:nvPicPr>
          <p:blipFill rotWithShape="1">
            <a:blip r:embed="rId4">
              <a:alphaModFix/>
            </a:blip>
            <a:srcRect b="0" l="0" r="0" t="83777"/>
            <a:stretch/>
          </p:blipFill>
          <p:spPr>
            <a:xfrm>
              <a:off x="0" y="8618150"/>
              <a:ext cx="18288000" cy="1668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3" name="Google Shape;753;p46"/>
          <p:cNvGrpSpPr/>
          <p:nvPr/>
        </p:nvGrpSpPr>
        <p:grpSpPr>
          <a:xfrm>
            <a:off x="4533363" y="51"/>
            <a:ext cx="4610532" cy="4321726"/>
            <a:chOff x="4936111" y="2591409"/>
            <a:chExt cx="8484602" cy="5104200"/>
          </a:xfrm>
        </p:grpSpPr>
        <p:sp>
          <p:nvSpPr>
            <p:cNvPr id="754" name="Google Shape;754;p46"/>
            <p:cNvSpPr/>
            <p:nvPr/>
          </p:nvSpPr>
          <p:spPr>
            <a:xfrm>
              <a:off x="4936111" y="2591409"/>
              <a:ext cx="8455800" cy="5104200"/>
            </a:xfrm>
            <a:prstGeom prst="roundRect">
              <a:avLst>
                <a:gd fmla="val 6717" name="adj"/>
              </a:avLst>
            </a:prstGeom>
            <a:solidFill>
              <a:srgbClr val="FFC42E"/>
            </a:solidFill>
            <a:ln>
              <a:noFill/>
            </a:ln>
          </p:spPr>
          <p:txBody>
            <a:bodyPr anchorCtr="0" anchor="ctr" bIns="46975" lIns="46975" spcFirstLastPara="1" rIns="46975" wrap="square" tIns="46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19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46"/>
            <p:cNvSpPr txBox="1"/>
            <p:nvPr/>
          </p:nvSpPr>
          <p:spPr>
            <a:xfrm>
              <a:off x="5007212" y="2746120"/>
              <a:ext cx="8413500" cy="47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975" lIns="46975" spcFirstLastPara="1" rIns="46975" wrap="square" tIns="46975">
              <a:noAutofit/>
            </a:bodyPr>
            <a:lstStyle/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We meet each 1st Friday per month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Forward this invite to colleagues who might be interested in joining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Submit your AI use cases</a:t>
              </a: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to our inventory 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Book MDAI Office Hours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469637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-221772" lvl="0" marL="234818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44"/>
                <a:buFont typeface="Montserrat SemiBold"/>
                <a:buChar char="➔"/>
              </a:pP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Email </a:t>
              </a:r>
              <a:r>
                <a:rPr lang="en" sz="1644" u="sng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AI@Maryland.gov</a:t>
              </a:r>
              <a:r>
                <a:rPr lang="en" sz="1644">
                  <a:solidFill>
                    <a:srgbClr val="0000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</a:t>
              </a:r>
              <a:r>
                <a:rPr lang="en" sz="1644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to show your team’s AI work at a future CoP!</a:t>
              </a:r>
              <a:endParaRPr sz="1644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756" name="Google Shape;756;p46"/>
          <p:cNvSpPr txBox="1"/>
          <p:nvPr/>
        </p:nvSpPr>
        <p:spPr>
          <a:xfrm>
            <a:off x="818052" y="20010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1" lang="en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What’s Next?</a:t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7" name="Google Shape;757;p46"/>
          <p:cNvCxnSpPr/>
          <p:nvPr/>
        </p:nvCxnSpPr>
        <p:spPr>
          <a:xfrm>
            <a:off x="697238" y="1840413"/>
            <a:ext cx="0" cy="880500"/>
          </a:xfrm>
          <a:prstGeom prst="straightConnector1">
            <a:avLst/>
          </a:prstGeom>
          <a:noFill/>
          <a:ln cap="flat" cmpd="sng" w="152400">
            <a:solidFill>
              <a:srgbClr val="FFC4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46"/>
          <p:cNvSpPr txBox="1"/>
          <p:nvPr/>
        </p:nvSpPr>
        <p:spPr>
          <a:xfrm>
            <a:off x="0" y="4155575"/>
            <a:ext cx="1242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Image is royalty-free from Pixabay</a:t>
            </a:r>
            <a:endParaRPr sz="5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