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Montserrat SemiBold"/>
      <p:regular r:id="rId38"/>
      <p:bold r:id="rId39"/>
      <p:italic r:id="rId40"/>
      <p:boldItalic r:id="rId41"/>
    </p:embeddedFont>
    <p:embeddedFont>
      <p:font typeface="Montserrat"/>
      <p:regular r:id="rId42"/>
      <p:bold r:id="rId43"/>
      <p:italic r:id="rId44"/>
      <p:boldItalic r:id="rId45"/>
    </p:embeddedFont>
    <p:embeddedFont>
      <p:font typeface="Montserrat Medium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SemiBold-italic.fntdata"/><Relationship Id="rId42" Type="http://schemas.openxmlformats.org/officeDocument/2006/relationships/font" Target="fonts/Montserrat-regular.fntdata"/><Relationship Id="rId41" Type="http://schemas.openxmlformats.org/officeDocument/2006/relationships/font" Target="fonts/MontserratSemiBold-boldItalic.fntdata"/><Relationship Id="rId44" Type="http://schemas.openxmlformats.org/officeDocument/2006/relationships/font" Target="fonts/Montserrat-italic.fntdata"/><Relationship Id="rId43" Type="http://schemas.openxmlformats.org/officeDocument/2006/relationships/font" Target="fonts/Montserrat-bold.fntdata"/><Relationship Id="rId46" Type="http://schemas.openxmlformats.org/officeDocument/2006/relationships/font" Target="fonts/MontserratMedium-regular.fntdata"/><Relationship Id="rId45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ontserratMedium-italic.fntdata"/><Relationship Id="rId47" Type="http://schemas.openxmlformats.org/officeDocument/2006/relationships/font" Target="fonts/MontserratMedium-bold.fntdata"/><Relationship Id="rId49" Type="http://schemas.openxmlformats.org/officeDocument/2006/relationships/font" Target="fonts/Montserrat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MontserratSemiBold-bold.fntdata"/><Relationship Id="rId38" Type="http://schemas.openxmlformats.org/officeDocument/2006/relationships/font" Target="fonts/MontserratSemiBold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f1d1a1f3fa_0_24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9" name="Google Shape;109;g2f1d1a1f3fa_0_24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0" name="Google Shape;110;g2f1d1a1f3fa_0_242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2f1d1a1f3fa_0_242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2f1d1a1f3fa_0_242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3" name="Google Shape;113;g2f1d1a1f3fa_0_242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b1eea052b_0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2" name="Google Shape;122;g3db1eea052b_0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3" name="Google Shape;123;g3db1eea052b_0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db1eea052b_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db1eea052b_0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6" name="Google Shape;126;g3db1eea052b_0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b1eea052b_0_10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6" name="Google Shape;136;g3db1eea052b_0_10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7" name="Google Shape;137;g3db1eea052b_0_106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db1eea052b_0_106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db1eea052b_0_106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0" name="Google Shape;140;g3db1eea052b_0_106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b1eea052b_0_21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3" name="Google Shape;153;g3db1eea052b_0_21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4" name="Google Shape;154;g3db1eea052b_0_215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db1eea052b_0_215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db1eea052b_0_215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7" name="Google Shape;157;g3db1eea052b_0_215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b1eea052b_0_32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7" name="Google Shape;167;g3db1eea052b_0_32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8" name="Google Shape;168;g3db1eea052b_0_321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db1eea052b_0_321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db1eea052b_0_321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1" name="Google Shape;171;g3db1eea052b_0_321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b1eea052b_0_42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3" name="Google Shape;183;g3db1eea052b_0_42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4" name="Google Shape;184;g3db1eea052b_0_429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db1eea052b_0_429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db1eea052b_0_429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7" name="Google Shape;187;g3db1eea052b_0_429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b1eea052b_0_53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8" name="Google Shape;198;g3db1eea052b_0_53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9" name="Google Shape;199;g3db1eea052b_0_536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db1eea052b_0_536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db1eea052b_0_536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2" name="Google Shape;202;g3db1eea052b_0_536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b1eea052b_0_64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3" name="Google Shape;213;g3db1eea052b_0_64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4" name="Google Shape;214;g3db1eea052b_0_643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db1eea052b_0_643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db1eea052b_0_643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7" name="Google Shape;217;g3db1eea052b_0_643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73d92db37_0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8" name="Google Shape;228;g3e73d92db37_0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9" name="Google Shape;229;g3e73d92db37_0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e73d92db37_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e73d92db37_0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2" name="Google Shape;232;g3e73d92db37_0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73d92db3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e73d92db3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7578175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e7578175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77fcabe8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e77fcabe8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75781754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e75781754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75781754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e75781754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77fcabe8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e77fcabe8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77fcabe8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e77fcabe8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77fcabe8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e77fcabe8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77fcabe8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e77fcabe8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829d05566_0_2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1" name="Google Shape;291;g3e829d05566_0_2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2" name="Google Shape;292;g3e829d05566_0_22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e829d05566_0_22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e829d05566_0_22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5" name="Google Shape;295;g3e829d05566_0_22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73d92db37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e73d92db3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829d05566_0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2" name="Google Shape;312;g3e829d05566_0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13" name="Google Shape;313;g3e829d05566_0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e829d05566_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e829d05566_0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6" name="Google Shape;316;g3e829d05566_0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e829d0556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e829d0556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829d0556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e829d0556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829d0556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e829d0556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e829d0556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e829d0556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829d0556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e829d0556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e829d0556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e829d0556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e829d0556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e829d0556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e829d0556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e829d0556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829d05566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e829d0556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829d05566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e829d05566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db1eea052b_0_75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7" name="Google Shape;377;g3db1eea052b_0_75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78" name="Google Shape;378;g3db1eea052b_0_75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g3db1eea052b_0_75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db1eea052b_0_75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81" name="Google Shape;381;g3db1eea052b_0_75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10853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3200"/>
              <a:buFont typeface="Montserrat"/>
              <a:buNone/>
              <a:defRPr b="1" sz="32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865250"/>
            <a:ext cx="8520600" cy="3244800"/>
          </a:xfrm>
          <a:prstGeom prst="rect">
            <a:avLst/>
          </a:prstGeom>
          <a:solidFill>
            <a:srgbClr val="EEEEEE">
              <a:alpha val="74840"/>
            </a:srgbClr>
          </a:solidFill>
        </p:spPr>
        <p:txBody>
          <a:bodyPr anchorCtr="0" anchor="t" bIns="91425" lIns="91425" spcFirstLastPara="1" rIns="91425" wrap="square" tIns="182875">
            <a:normAutofit/>
          </a:bodyPr>
          <a:lstStyle>
            <a:lvl1pPr indent="-3683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40A3C"/>
              </a:buClr>
              <a:buSzPts val="2200"/>
              <a:buFont typeface="Montserrat"/>
              <a:buChar char="●"/>
              <a:defRPr sz="2200"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Montserrat"/>
              <a:buChar char="○"/>
              <a:defRPr sz="1800">
                <a:latin typeface="Montserrat"/>
                <a:ea typeface="Montserrat"/>
                <a:cs typeface="Montserrat"/>
                <a:sym typeface="Montserrat"/>
              </a:defRPr>
            </a:lvl2pPr>
            <a:lvl3pPr indent="-3429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Montserrat"/>
              <a:buChar char="■"/>
              <a:defRPr sz="1800">
                <a:latin typeface="Montserrat"/>
                <a:ea typeface="Montserrat"/>
                <a:cs typeface="Montserrat"/>
                <a:sym typeface="Montserrat"/>
              </a:defRPr>
            </a:lvl3pPr>
            <a:lvl4pPr indent="-3429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Montserrat"/>
              <a:buChar char="●"/>
              <a:defRPr sz="1800">
                <a:latin typeface="Montserrat"/>
                <a:ea typeface="Montserrat"/>
                <a:cs typeface="Montserrat"/>
                <a:sym typeface="Montserrat"/>
              </a:defRPr>
            </a:lvl4pPr>
            <a:lvl5pPr indent="-3429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Montserrat"/>
              <a:buChar char="○"/>
              <a:defRPr sz="1800"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Montserrat"/>
              <a:buChar char="■"/>
              <a:defRPr sz="1800">
                <a:latin typeface="Montserrat"/>
                <a:ea typeface="Montserrat"/>
                <a:cs typeface="Montserrat"/>
                <a:sym typeface="Montserrat"/>
              </a:defRPr>
            </a:lvl6pPr>
            <a:lvl7pPr indent="-3429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Montserrat"/>
              <a:buChar char="●"/>
              <a:defRPr sz="1800">
                <a:latin typeface="Montserrat"/>
                <a:ea typeface="Montserrat"/>
                <a:cs typeface="Montserrat"/>
                <a:sym typeface="Montserrat"/>
              </a:defRPr>
            </a:lvl7pPr>
            <a:lvl8pPr indent="-3429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Montserrat"/>
              <a:buChar char="○"/>
              <a:defRPr sz="1800">
                <a:latin typeface="Montserrat"/>
                <a:ea typeface="Montserrat"/>
                <a:cs typeface="Montserrat"/>
                <a:sym typeface="Montserrat"/>
              </a:defRPr>
            </a:lvl8pPr>
            <a:lvl9pPr indent="-342900" lvl="8" marL="41148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Font typeface="Montserrat"/>
              <a:buChar char="■"/>
              <a:defRPr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50"/>
            <a:ext cx="914769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431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3665751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50"/>
            <a:ext cx="914769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55" name="Google Shape;55;p13"/>
            <p:cNvSpPr/>
            <p:nvPr/>
          </p:nvSpPr>
          <p:spPr>
            <a:xfrm>
              <a:off x="1306513" y="0"/>
              <a:ext cx="3862388" cy="6843712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1120775" y="0"/>
              <a:ext cx="3676651" cy="6843712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1001713" y="0"/>
              <a:ext cx="3621089" cy="6843712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1001713" y="0"/>
              <a:ext cx="3244849" cy="6843712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889000" y="0"/>
              <a:ext cx="3230563" cy="6843712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484188" y="0"/>
              <a:ext cx="3421064" cy="6843712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598488" y="0"/>
              <a:ext cx="2717799" cy="6843712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261938" y="0"/>
              <a:ext cx="2944812" cy="6843712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-417513" y="0"/>
              <a:ext cx="2403475" cy="6843712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" name="Google Shape;76;p13"/>
          <p:cNvGrpSpPr/>
          <p:nvPr/>
        </p:nvGrpSpPr>
        <p:grpSpPr>
          <a:xfrm>
            <a:off x="600108" y="1274692"/>
            <a:ext cx="2755944" cy="2602816"/>
            <a:chOff x="697883" y="1816768"/>
            <a:chExt cx="3674592" cy="3470421"/>
          </a:xfrm>
        </p:grpSpPr>
        <p:sp>
          <p:nvSpPr>
            <p:cNvPr id="77" name="Google Shape;77;p13"/>
            <p:cNvSpPr/>
            <p:nvPr/>
          </p:nvSpPr>
          <p:spPr>
            <a:xfrm>
              <a:off x="697883" y="1816768"/>
              <a:ext cx="3674400" cy="502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 rot="10800000">
              <a:off x="2380312" y="5014789"/>
              <a:ext cx="315900" cy="2724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704075" y="2392840"/>
              <a:ext cx="3668400" cy="262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13"/>
          <p:cNvSpPr txBox="1"/>
          <p:nvPr>
            <p:ph type="title"/>
          </p:nvPr>
        </p:nvSpPr>
        <p:spPr>
          <a:xfrm>
            <a:off x="666473" y="1762444"/>
            <a:ext cx="2624100" cy="18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450" lIns="171450" spcFirstLastPara="1" rIns="171450" wrap="square" tIns="17145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3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>
            <a:off x="3838835" y="602390"/>
            <a:ext cx="4711500" cy="39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0" type="dt"/>
          </p:nvPr>
        </p:nvSpPr>
        <p:spPr>
          <a:xfrm>
            <a:off x="603504" y="240030"/>
            <a:ext cx="2743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1" type="ftr"/>
          </p:nvPr>
        </p:nvSpPr>
        <p:spPr>
          <a:xfrm>
            <a:off x="603504" y="4670298"/>
            <a:ext cx="7941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7852410" y="240030"/>
            <a:ext cx="68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one third" showMasterSp="0">
  <p:cSld name="D. Green one third">
    <p:bg>
      <p:bgPr>
        <a:solidFill>
          <a:srgbClr val="C40A3C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4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2753301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 txBox="1"/>
          <p:nvPr>
            <p:ph type="title"/>
          </p:nvPr>
        </p:nvSpPr>
        <p:spPr>
          <a:xfrm>
            <a:off x="472500" y="2010827"/>
            <a:ext cx="23457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4"/>
          <p:cNvSpPr/>
          <p:nvPr/>
        </p:nvSpPr>
        <p:spPr>
          <a:xfrm>
            <a:off x="3060572" y="-982"/>
            <a:ext cx="6083400" cy="514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4"/>
          <p:cNvSpPr txBox="1"/>
          <p:nvPr>
            <p:ph idx="10" type="dt"/>
          </p:nvPr>
        </p:nvSpPr>
        <p:spPr>
          <a:xfrm>
            <a:off x="7258050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90" name="Google Shape;90;p14"/>
          <p:cNvSpPr txBox="1"/>
          <p:nvPr/>
        </p:nvSpPr>
        <p:spPr>
          <a:xfrm>
            <a:off x="8375904" y="4803777"/>
            <a:ext cx="285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yellow flag with red and black text&#10;&#10;Description automatically generated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500" y="59627"/>
            <a:ext cx="737609" cy="31456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997260" y="12870"/>
            <a:ext cx="3150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PIA Exempt – Confidential Information</a:t>
            </a:r>
            <a:endParaRPr sz="1100"/>
          </a:p>
        </p:txBody>
      </p:sp>
      <p:sp>
        <p:nvSpPr>
          <p:cNvPr id="93" name="Google Shape;93;p14"/>
          <p:cNvSpPr txBox="1"/>
          <p:nvPr/>
        </p:nvSpPr>
        <p:spPr>
          <a:xfrm>
            <a:off x="3059044" y="4992131"/>
            <a:ext cx="3027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DRAFT – DO NOT DISTRIBUTE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. Title and Text">
  <p:cSld name="1_D. Title and 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472500" y="467100"/>
            <a:ext cx="82002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472050" y="1564221"/>
            <a:ext cx="8200500" cy="30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■"/>
              <a:defRPr/>
            </a:lvl6pPr>
            <a:lvl7pPr indent="-43815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300"/>
              <a:buChar char="●"/>
              <a:defRPr/>
            </a:lvl7pPr>
            <a:lvl8pPr indent="-48895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41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SzPts val="1800"/>
              <a:buChar char="■"/>
              <a:defRPr/>
            </a:lvl9pPr>
          </a:lstStyle>
          <a:p/>
        </p:txBody>
      </p:sp>
      <p:pic>
        <p:nvPicPr>
          <p:cNvPr descr="A black and yellow flag with red and black text&#10;&#10;Description automatically generated" id="97" name="Google Shape;9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2500" y="59627"/>
            <a:ext cx="737609" cy="314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_Content">
  <p:cSld name="CUSTOM_2_3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457175" y="1536250"/>
            <a:ext cx="5459100" cy="27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type="title"/>
          </p:nvPr>
        </p:nvSpPr>
        <p:spPr>
          <a:xfrm>
            <a:off x="457175" y="460250"/>
            <a:ext cx="54591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Break Left">
  <p:cSld name="CUSTOM_3_1_1_1_1_1_1_1_1_1_1_1_1_2"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457175" y="1535400"/>
            <a:ext cx="4077000" cy="20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Break Left 1">
  <p:cSld name="CUSTOM_3_1_1_1_1_1_1_1_1_1_1_1_1_3"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457175" y="1535400"/>
            <a:ext cx="4077000" cy="20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Break Left 2">
  <p:cSld name="CUSTOM_3_1_1_1_1_1_1_1_1_1_1_1_1_4"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457175" y="1535400"/>
            <a:ext cx="4077000" cy="20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-4450"/>
            <a:ext cx="914769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Relationship Id="rId4" Type="http://schemas.openxmlformats.org/officeDocument/2006/relationships/image" Target="../media/image3.png"/><Relationship Id="rId5" Type="http://schemas.openxmlformats.org/officeDocument/2006/relationships/hyperlink" Target="https://meet.google.com/cbi-iazh-ccn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Relationship Id="rId4" Type="http://schemas.openxmlformats.org/officeDocument/2006/relationships/image" Target="../media/image3.png"/><Relationship Id="rId5" Type="http://schemas.openxmlformats.org/officeDocument/2006/relationships/hyperlink" Target="https://doitmaryland.service-now.com/doit?id=sc_cat_item&amp;sys_id=90ebe560db6bd300b302e9ec0b9619e0" TargetMode="External"/><Relationship Id="rId6" Type="http://schemas.openxmlformats.org/officeDocument/2006/relationships/hyperlink" Target="https://calendar.google.com/calendar/u/0/appointments/schedules/AcZssZ0npA6K5mL31wGMw6dc1QP2-4PqSRKfhghFn-wei3yFTpI04dPFUrqZJ_0v1U9zP5OjXcfy0COY" TargetMode="External"/><Relationship Id="rId7" Type="http://schemas.openxmlformats.org/officeDocument/2006/relationships/hyperlink" Target="mailto:AI@Maryland.gov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20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116" name="Google Shape;116;p20"/>
            <p:cNvPicPr preferRelativeResize="0"/>
            <p:nvPr/>
          </p:nvPicPr>
          <p:blipFill>
            <a:blip r:embed="rId3">
              <a:alphaModFix amt="16000"/>
            </a:blip>
            <a:stretch>
              <a:fillRect/>
            </a:stretch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20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" name="Google Shape;118;p20"/>
          <p:cNvSpPr txBox="1"/>
          <p:nvPr/>
        </p:nvSpPr>
        <p:spPr>
          <a:xfrm>
            <a:off x="230525" y="1136150"/>
            <a:ext cx="8677500" cy="21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500" u="none" cap="none" strike="noStrike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Maryland AI Community of Practice (MDA</a:t>
            </a:r>
            <a:r>
              <a:rPr b="1" lang="en" sz="45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I)</a:t>
            </a:r>
            <a:endParaRPr b="1" sz="4500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06/05/2026</a:t>
            </a:r>
            <a:r>
              <a:rPr b="1" i="0" lang="en" sz="4500" u="none" cap="none" strike="noStrike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sz="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21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129" name="Google Shape;129;p21"/>
            <p:cNvPicPr preferRelativeResize="0"/>
            <p:nvPr/>
          </p:nvPicPr>
          <p:blipFill>
            <a:blip r:embed="rId3">
              <a:alphaModFix amt="16000"/>
            </a:blip>
            <a:stretch>
              <a:fillRect/>
            </a:stretch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p21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" name="Google Shape;131;p21"/>
          <p:cNvSpPr txBox="1"/>
          <p:nvPr/>
        </p:nvSpPr>
        <p:spPr>
          <a:xfrm>
            <a:off x="168925" y="1006229"/>
            <a:ext cx="8898900" cy="3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-22860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Medium"/>
              <a:buAutoNum type="arabicPeriod"/>
            </a:pP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Welcome and Introduction to the AI CoP </a:t>
            </a:r>
            <a:r>
              <a:rPr lang="en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(Lauren Maffeo, DoIT)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AutoNum type="arabicPeriod"/>
            </a:pP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Holding AI to Standards</a:t>
            </a:r>
            <a:r>
              <a:rPr lang="en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(Dex-Xavier Copeland, DoIT) 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AutoNum type="arabicPeriod"/>
            </a:pP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Maryland Data Academy: Building an AI-Ready Workforce</a:t>
            </a:r>
            <a:r>
              <a:rPr lang="en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(Stephanie Garland, DoIT)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AutoNum type="arabicPeriod"/>
            </a:pP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What’s Next</a:t>
            </a:r>
            <a:r>
              <a:rPr lang="en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(Lauren Maffeo, DoIT)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245125" y="183563"/>
            <a:ext cx="676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b="1"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sz="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22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143" name="Google Shape;143;p22"/>
            <p:cNvPicPr preferRelativeResize="0"/>
            <p:nvPr/>
          </p:nvPicPr>
          <p:blipFill>
            <a:blip r:embed="rId3">
              <a:alphaModFix amt="16000"/>
            </a:blip>
            <a:stretch>
              <a:fillRect/>
            </a:stretch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22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5" name="Google Shape;145;p22"/>
          <p:cNvGrpSpPr/>
          <p:nvPr/>
        </p:nvGrpSpPr>
        <p:grpSpPr>
          <a:xfrm>
            <a:off x="4370349" y="227984"/>
            <a:ext cx="4548398" cy="4044127"/>
            <a:chOff x="4916101" y="1898258"/>
            <a:chExt cx="8455842" cy="5797200"/>
          </a:xfrm>
        </p:grpSpPr>
        <p:sp>
          <p:nvSpPr>
            <p:cNvPr id="146" name="Google Shape;146;p22"/>
            <p:cNvSpPr/>
            <p:nvPr/>
          </p:nvSpPr>
          <p:spPr>
            <a:xfrm>
              <a:off x="4916101" y="1898258"/>
              <a:ext cx="8455800" cy="5797200"/>
            </a:xfrm>
            <a:prstGeom prst="roundRect">
              <a:avLst>
                <a:gd fmla="val 6717" name="adj"/>
              </a:avLst>
            </a:prstGeom>
            <a:solidFill>
              <a:srgbClr val="FFC42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22"/>
            <p:cNvSpPr txBox="1"/>
            <p:nvPr/>
          </p:nvSpPr>
          <p:spPr>
            <a:xfrm>
              <a:off x="5023243" y="2591409"/>
              <a:ext cx="8348700" cy="487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-190500" lvl="0" marL="2286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SemiBold"/>
                <a:buChar char="➔"/>
              </a:pPr>
              <a:r>
                <a:rPr lang="en" sz="12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Mics on Mute to prevent background noise</a:t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2286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-190500" lvl="0" marL="2286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SemiBold"/>
                <a:buChar char="➔"/>
              </a:pPr>
              <a:r>
                <a:rPr lang="en" sz="12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Only the speaker should have their camera on to avoid visual distractions</a:t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2286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-190500" lvl="0" marL="2286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SemiBold"/>
                <a:buChar char="➔"/>
              </a:pPr>
              <a:r>
                <a:rPr lang="en" sz="12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Add your questions to the Comments or Q&amp;A section of our chat</a:t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2286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-190500" lvl="0" marL="2286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SemiBold"/>
                <a:buChar char="➔"/>
              </a:pPr>
              <a:r>
                <a:rPr lang="en" sz="12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The AI Enablement Team will try and address questions in the chat async</a:t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2286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-190500" lvl="0" marL="2286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SemiBold"/>
                <a:buChar char="➔"/>
              </a:pPr>
              <a:r>
                <a:rPr lang="en" sz="12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Forward this meeting to peers who might benefit (</a:t>
              </a:r>
              <a:r>
                <a:rPr lang="en" sz="1200" u="sng">
                  <a:solidFill>
                    <a:schemeClr val="hlink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  <a:hlinkClick r:id="rId5"/>
                </a:rPr>
                <a:t>https://meet.google.com/cbi-iazh-ccn</a:t>
              </a:r>
              <a:r>
                <a:rPr lang="en" sz="12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 )</a:t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2286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-190500" lvl="0" marL="2286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SemiBold"/>
                <a:buChar char="➔"/>
              </a:pPr>
              <a:r>
                <a:rPr lang="en" sz="12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Bring an owner’s mindset &amp; participate!</a:t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148" name="Google Shape;148;p22"/>
          <p:cNvSpPr txBox="1"/>
          <p:nvPr/>
        </p:nvSpPr>
        <p:spPr>
          <a:xfrm>
            <a:off x="962113" y="1714500"/>
            <a:ext cx="32268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b="1" lang="en" sz="3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CoP Etiquette </a:t>
            </a:r>
            <a:endParaRPr b="1" sz="3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9" name="Google Shape;149;p22"/>
          <p:cNvCxnSpPr/>
          <p:nvPr/>
        </p:nvCxnSpPr>
        <p:spPr>
          <a:xfrm>
            <a:off x="873538" y="1840413"/>
            <a:ext cx="0" cy="880500"/>
          </a:xfrm>
          <a:prstGeom prst="straightConnector1">
            <a:avLst/>
          </a:prstGeom>
          <a:noFill/>
          <a:ln cap="flat" cmpd="sng" w="152400">
            <a:solidFill>
              <a:srgbClr val="FFC42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22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sz="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23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160" name="Google Shape;160;p23"/>
            <p:cNvPicPr preferRelativeResize="0"/>
            <p:nvPr/>
          </p:nvPicPr>
          <p:blipFill>
            <a:blip r:embed="rId3">
              <a:alphaModFix amt="16000"/>
            </a:blip>
            <a:stretch>
              <a:fillRect/>
            </a:stretch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23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" name="Google Shape;162;p23"/>
          <p:cNvSpPr txBox="1"/>
          <p:nvPr/>
        </p:nvSpPr>
        <p:spPr>
          <a:xfrm>
            <a:off x="1388748" y="1578002"/>
            <a:ext cx="6758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MDAI’s Vision &amp; Values</a:t>
            </a:r>
            <a:r>
              <a:rPr b="1" lang="en" sz="37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3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1403900" y="1356400"/>
            <a:ext cx="6373500" cy="279900"/>
          </a:xfrm>
          <a:prstGeom prst="rightArrow">
            <a:avLst>
              <a:gd fmla="val 50000" name="adj1"/>
              <a:gd fmla="val 92734" name="adj2"/>
            </a:avLst>
          </a:prstGeom>
          <a:solidFill>
            <a:srgbClr val="FFC42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3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sz="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24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174" name="Google Shape;174;p24"/>
            <p:cNvPicPr preferRelativeResize="0"/>
            <p:nvPr/>
          </p:nvPicPr>
          <p:blipFill>
            <a:blip r:embed="rId3">
              <a:alphaModFix amt="16000"/>
            </a:blip>
            <a:stretch>
              <a:fillRect/>
            </a:stretch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24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" name="Google Shape;176;p24"/>
          <p:cNvGrpSpPr/>
          <p:nvPr/>
        </p:nvGrpSpPr>
        <p:grpSpPr>
          <a:xfrm>
            <a:off x="107250" y="1368438"/>
            <a:ext cx="8929500" cy="2385150"/>
            <a:chOff x="70900" y="2584475"/>
            <a:chExt cx="17859000" cy="4770300"/>
          </a:xfrm>
        </p:grpSpPr>
        <p:sp>
          <p:nvSpPr>
            <p:cNvPr id="177" name="Google Shape;177;p24"/>
            <p:cNvSpPr/>
            <p:nvPr/>
          </p:nvSpPr>
          <p:spPr>
            <a:xfrm>
              <a:off x="70900" y="2584475"/>
              <a:ext cx="17859000" cy="4770300"/>
            </a:xfrm>
            <a:prstGeom prst="roundRect">
              <a:avLst>
                <a:gd fmla="val 6717" name="adj"/>
              </a:avLst>
            </a:prstGeom>
            <a:solidFill>
              <a:srgbClr val="BF123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24"/>
            <p:cNvSpPr txBox="1"/>
            <p:nvPr/>
          </p:nvSpPr>
          <p:spPr>
            <a:xfrm>
              <a:off x="434650" y="3662250"/>
              <a:ext cx="17131500" cy="35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norm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State of Maryland responsibly, ethically, and productively leverages AI/ML technologies to significantly improve constituent outcomes and reduce drudgery for the State workforce. </a:t>
              </a:r>
              <a:endParaRPr b="1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179" name="Google Shape;179;p24"/>
          <p:cNvSpPr txBox="1"/>
          <p:nvPr/>
        </p:nvSpPr>
        <p:spPr>
          <a:xfrm>
            <a:off x="245125" y="313200"/>
            <a:ext cx="732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b="1" lang="en" sz="36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Maryland’s Vision for AI </a:t>
            </a:r>
            <a:endParaRPr b="1" sz="3600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4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sz="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25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190" name="Google Shape;190;p25"/>
            <p:cNvPicPr preferRelativeResize="0"/>
            <p:nvPr/>
          </p:nvPicPr>
          <p:blipFill>
            <a:blip r:embed="rId3">
              <a:alphaModFix amt="16000"/>
            </a:blip>
            <a:stretch>
              <a:fillRect/>
            </a:stretch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25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" name="Google Shape;192;p25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sz="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3" name="Google Shape;193;p25"/>
          <p:cNvGrpSpPr/>
          <p:nvPr/>
        </p:nvGrpSpPr>
        <p:grpSpPr>
          <a:xfrm>
            <a:off x="107250" y="366121"/>
            <a:ext cx="8929500" cy="3906444"/>
            <a:chOff x="70900" y="2584454"/>
            <a:chExt cx="17859000" cy="5412086"/>
          </a:xfrm>
        </p:grpSpPr>
        <p:sp>
          <p:nvSpPr>
            <p:cNvPr id="194" name="Google Shape;194;p25"/>
            <p:cNvSpPr/>
            <p:nvPr/>
          </p:nvSpPr>
          <p:spPr>
            <a:xfrm>
              <a:off x="70900" y="2584454"/>
              <a:ext cx="17859000" cy="5214900"/>
            </a:xfrm>
            <a:prstGeom prst="roundRect">
              <a:avLst>
                <a:gd fmla="val 6717" name="adj"/>
              </a:avLst>
            </a:prstGeom>
            <a:solidFill>
              <a:srgbClr val="FFC42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25"/>
            <p:cNvSpPr txBox="1"/>
            <p:nvPr/>
          </p:nvSpPr>
          <p:spPr>
            <a:xfrm>
              <a:off x="282250" y="2781641"/>
              <a:ext cx="17647500" cy="52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normAutofit/>
            </a:bodyPr>
            <a:lstStyle/>
            <a:p>
              <a:pPr indent="0" lvl="0" marL="2286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 u="sng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MDAI’s Values</a:t>
              </a:r>
              <a:endParaRPr b="1" sz="3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2286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556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ontserrat"/>
                <a:buAutoNum type="arabicParenR"/>
              </a:pPr>
              <a:r>
                <a:rPr b="1" lang="en" sz="2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</a:t>
              </a:r>
              <a:r>
                <a:rPr b="1" lang="en" sz="2000" u="sng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Collaborate Across Teams</a:t>
              </a:r>
              <a:r>
                <a:rPr b="1" lang="en" sz="2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9144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03200" lvl="2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Meet regularly to share AI use cases, wins, struggles, questions, and best practices. 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3200" lvl="2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Provide shared space for anyone in Maryland to learn how they can harness AI.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3200" lvl="2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Connect with peers who have the same issues or aspects of AI enablement as you do. 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6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205" name="Google Shape;205;p26"/>
            <p:cNvPicPr preferRelativeResize="0"/>
            <p:nvPr/>
          </p:nvPicPr>
          <p:blipFill>
            <a:blip r:embed="rId3">
              <a:alphaModFix amt="16000"/>
            </a:blip>
            <a:stretch>
              <a:fillRect/>
            </a:stretch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6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7" name="Google Shape;207;p26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sz="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8" name="Google Shape;208;p26"/>
          <p:cNvGrpSpPr/>
          <p:nvPr/>
        </p:nvGrpSpPr>
        <p:grpSpPr>
          <a:xfrm>
            <a:off x="107175" y="366121"/>
            <a:ext cx="8929575" cy="3906444"/>
            <a:chOff x="70750" y="2584454"/>
            <a:chExt cx="17859150" cy="5412086"/>
          </a:xfrm>
        </p:grpSpPr>
        <p:sp>
          <p:nvSpPr>
            <p:cNvPr id="209" name="Google Shape;209;p26"/>
            <p:cNvSpPr/>
            <p:nvPr/>
          </p:nvSpPr>
          <p:spPr>
            <a:xfrm>
              <a:off x="70900" y="2584454"/>
              <a:ext cx="17859000" cy="5214900"/>
            </a:xfrm>
            <a:prstGeom prst="roundRect">
              <a:avLst>
                <a:gd fmla="val 6717" name="adj"/>
              </a:avLst>
            </a:prstGeom>
            <a:solidFill>
              <a:srgbClr val="FFC42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26"/>
            <p:cNvSpPr txBox="1"/>
            <p:nvPr/>
          </p:nvSpPr>
          <p:spPr>
            <a:xfrm>
              <a:off x="70750" y="2781641"/>
              <a:ext cx="17859000" cy="52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normAutofit fontScale="85000" lnSpcReduction="20000"/>
            </a:bodyPr>
            <a:lstStyle/>
            <a:p>
              <a:pPr indent="0" lvl="0" marL="2286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853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b="1" lang="en" sz="3853" u="sng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MDAI’s Values </a:t>
              </a:r>
              <a:endParaRPr sz="3853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89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</a:endParaRPr>
            </a:p>
            <a:p>
              <a:pPr indent="0" lvl="0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53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2)     </a:t>
              </a:r>
              <a:r>
                <a:rPr b="1" lang="en" sz="2453" u="sng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Show, Don’t Tell</a:t>
              </a:r>
              <a:r>
                <a:rPr b="1" lang="en" sz="2453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b="1" sz="245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3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07885" lvl="2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Montserrat Medium"/>
                <a:buChar char="-"/>
              </a:pPr>
              <a:r>
                <a:rPr lang="en" sz="1734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Host lunch n’ learns to show how Maryland’s civil servants can use enterprise AI tools.</a:t>
              </a:r>
              <a:endParaRPr sz="1734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4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7885" lvl="2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Montserrat Medium"/>
                <a:buChar char="-"/>
              </a:pPr>
              <a:r>
                <a:rPr lang="en" sz="1734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Share AI proofs of concept to demo how your peers use AI.</a:t>
              </a:r>
              <a:endParaRPr sz="1734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4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7885" lvl="2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Montserrat Medium"/>
                <a:buChar char="-"/>
              </a:pPr>
              <a:r>
                <a:rPr lang="en" sz="1734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Highlight guest speakers beyond government to share new AI innovations.</a:t>
              </a:r>
              <a:endParaRPr sz="1734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</a:endParaRPr>
            </a:p>
            <a:p>
              <a:pPr indent="0" lvl="0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27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220" name="Google Shape;220;p27"/>
            <p:cNvPicPr preferRelativeResize="0"/>
            <p:nvPr/>
          </p:nvPicPr>
          <p:blipFill>
            <a:blip r:embed="rId3">
              <a:alphaModFix amt="16000"/>
            </a:blip>
            <a:stretch>
              <a:fillRect/>
            </a:stretch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27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2" name="Google Shape;222;p27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sz="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" name="Google Shape;223;p27"/>
          <p:cNvGrpSpPr/>
          <p:nvPr/>
        </p:nvGrpSpPr>
        <p:grpSpPr>
          <a:xfrm>
            <a:off x="107250" y="366121"/>
            <a:ext cx="8929500" cy="3906451"/>
            <a:chOff x="70900" y="2584454"/>
            <a:chExt cx="17859000" cy="5412096"/>
          </a:xfrm>
        </p:grpSpPr>
        <p:sp>
          <p:nvSpPr>
            <p:cNvPr id="224" name="Google Shape;224;p27"/>
            <p:cNvSpPr/>
            <p:nvPr/>
          </p:nvSpPr>
          <p:spPr>
            <a:xfrm>
              <a:off x="70900" y="2584454"/>
              <a:ext cx="17859000" cy="5214900"/>
            </a:xfrm>
            <a:prstGeom prst="roundRect">
              <a:avLst>
                <a:gd fmla="val 6717" name="adj"/>
              </a:avLst>
            </a:prstGeom>
            <a:solidFill>
              <a:srgbClr val="FFC42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27"/>
            <p:cNvSpPr txBox="1"/>
            <p:nvPr/>
          </p:nvSpPr>
          <p:spPr>
            <a:xfrm>
              <a:off x="434650" y="2781650"/>
              <a:ext cx="17131500" cy="52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normAutofit lnSpcReduction="10000"/>
            </a:bodyPr>
            <a:lstStyle/>
            <a:p>
              <a:pPr indent="0" lvl="0" marL="2286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 u="sng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MDAI’s Values </a:t>
              </a:r>
              <a:endParaRPr sz="3200">
                <a:solidFill>
                  <a:schemeClr val="dk1"/>
                </a:solidFill>
              </a:endParaRPr>
            </a:p>
            <a:p>
              <a:pPr indent="0" lvl="0" marL="2286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</a:endParaRPr>
            </a:p>
            <a:p>
              <a:pPr indent="0" lvl="0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3)     </a:t>
              </a:r>
              <a:r>
                <a:rPr b="1" lang="en" sz="2000" u="sng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Provide AI Updates in a Shared Space</a:t>
              </a:r>
              <a:endParaRPr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3200" lvl="2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Share new AI policies, processes, guidance, etc. for state employees to use.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-   Offer blueprints for anyone serving Maryland (city, county, state, etc.) to leverage AI.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-   Provide Maryland’s AIE team as a foundational source for where to start with AI.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28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235" name="Google Shape;235;p28"/>
            <p:cNvPicPr preferRelativeResize="0"/>
            <p:nvPr/>
          </p:nvPicPr>
          <p:blipFill>
            <a:blip r:embed="rId3">
              <a:alphaModFix amt="16000"/>
            </a:blip>
            <a:stretch>
              <a:fillRect/>
            </a:stretch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28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7" name="Google Shape;237;p28"/>
          <p:cNvSpPr txBox="1"/>
          <p:nvPr/>
        </p:nvSpPr>
        <p:spPr>
          <a:xfrm>
            <a:off x="125" y="1669669"/>
            <a:ext cx="9144000" cy="2422800"/>
          </a:xfrm>
          <a:prstGeom prst="rect">
            <a:avLst/>
          </a:prstGeom>
          <a:noFill/>
          <a:ln>
            <a:noFill/>
          </a:ln>
          <a:effectLst>
            <a:outerShdw rotWithShape="0" algn="bl" dist="9525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Holding AI to Standards</a:t>
            </a:r>
            <a:endParaRPr b="1" sz="3200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Dex-Xavier Copeland, GRC Engineer, DoIT</a:t>
            </a:r>
            <a:endParaRPr b="1" sz="3200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3600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28"/>
          <p:cNvSpPr/>
          <p:nvPr/>
        </p:nvSpPr>
        <p:spPr>
          <a:xfrm>
            <a:off x="1403900" y="1356400"/>
            <a:ext cx="6373500" cy="279900"/>
          </a:xfrm>
          <a:prstGeom prst="rightArrow">
            <a:avLst>
              <a:gd fmla="val 50000" name="adj1"/>
              <a:gd fmla="val 92734" name="adj2"/>
            </a:avLst>
          </a:prstGeom>
          <a:solidFill>
            <a:srgbClr val="FFC42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8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sz="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>
            <p:ph type="title"/>
          </p:nvPr>
        </p:nvSpPr>
        <p:spPr>
          <a:xfrm>
            <a:off x="311700" y="10853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Holding AI to Standards: Overview</a:t>
            </a:r>
            <a:endParaRPr/>
          </a:p>
        </p:txBody>
      </p:sp>
      <p:sp>
        <p:nvSpPr>
          <p:cNvPr id="245" name="Google Shape;245;p29"/>
          <p:cNvSpPr txBox="1"/>
          <p:nvPr>
            <p:ph idx="1" type="body"/>
          </p:nvPr>
        </p:nvSpPr>
        <p:spPr>
          <a:xfrm>
            <a:off x="311700" y="603400"/>
            <a:ext cx="8520600" cy="35883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 sz="1800">
                <a:solidFill>
                  <a:schemeClr val="dk1"/>
                </a:solidFill>
              </a:rPr>
              <a:t>The Problem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 sz="1800">
                <a:solidFill>
                  <a:schemeClr val="dk1"/>
                </a:solidFill>
              </a:rPr>
              <a:t>Demo Scenario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 sz="1800">
                <a:solidFill>
                  <a:schemeClr val="dk1"/>
                </a:solidFill>
              </a:rPr>
              <a:t>A Three-Pillar Framework Solution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>
                <a:solidFill>
                  <a:schemeClr val="dk1"/>
                </a:solidFill>
              </a:rPr>
              <a:t>Sources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>
                <a:solidFill>
                  <a:schemeClr val="dk1"/>
                </a:solidFill>
              </a:rPr>
              <a:t>Benchmarks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>
                <a:solidFill>
                  <a:schemeClr val="dk1"/>
                </a:solidFill>
              </a:rPr>
              <a:t>Feedback</a:t>
            </a:r>
            <a:endParaRPr b="1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 sz="1800">
                <a:solidFill>
                  <a:schemeClr val="dk1"/>
                </a:solidFill>
              </a:rPr>
              <a:t>Conclusion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 sz="1800">
                <a:solidFill>
                  <a:schemeClr val="dk1"/>
                </a:solidFill>
              </a:rPr>
              <a:t>Q&amp;A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"/>
          <p:cNvSpPr txBox="1"/>
          <p:nvPr>
            <p:ph type="title"/>
          </p:nvPr>
        </p:nvSpPr>
        <p:spPr>
          <a:xfrm>
            <a:off x="311700" y="10853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251" name="Google Shape;251;p30"/>
          <p:cNvSpPr txBox="1"/>
          <p:nvPr>
            <p:ph idx="1" type="body"/>
          </p:nvPr>
        </p:nvSpPr>
        <p:spPr>
          <a:xfrm>
            <a:off x="311700" y="865250"/>
            <a:ext cx="8520600" cy="32448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AI outputs are only as good as the standard you hold them to.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Without a clear benchmark, we often default to gut instinct, which produces:</a:t>
            </a:r>
            <a:endParaRPr sz="20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1" lang="en" sz="2000">
                <a:solidFill>
                  <a:schemeClr val="dk1"/>
                </a:solidFill>
              </a:rPr>
              <a:t>Inconsistent Assessments – </a:t>
            </a:r>
            <a:r>
              <a:rPr lang="en" sz="2000">
                <a:solidFill>
                  <a:schemeClr val="dk1"/>
                </a:solidFill>
              </a:rPr>
              <a:t>same request, two </a:t>
            </a:r>
            <a:r>
              <a:rPr lang="en" sz="2000">
                <a:solidFill>
                  <a:schemeClr val="dk1"/>
                </a:solidFill>
              </a:rPr>
              <a:t>reviewers</a:t>
            </a:r>
            <a:r>
              <a:rPr lang="en" sz="2000">
                <a:solidFill>
                  <a:schemeClr val="dk1"/>
                </a:solidFill>
              </a:rPr>
              <a:t>, two answers</a:t>
            </a:r>
            <a:endParaRPr sz="20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1" lang="en" sz="2000">
                <a:solidFill>
                  <a:schemeClr val="dk1"/>
                </a:solidFill>
              </a:rPr>
              <a:t>Undocumented Rationale – </a:t>
            </a:r>
            <a:r>
              <a:rPr lang="en" sz="2000">
                <a:solidFill>
                  <a:schemeClr val="dk1"/>
                </a:solidFill>
              </a:rPr>
              <a:t>decisions we can’t defend later</a:t>
            </a:r>
            <a:endParaRPr sz="20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1" lang="en" sz="2000">
                <a:solidFill>
                  <a:schemeClr val="dk1"/>
                </a:solidFill>
              </a:rPr>
              <a:t>No Reusable Institutional Knowledge – </a:t>
            </a:r>
            <a:r>
              <a:rPr lang="en" sz="2000">
                <a:solidFill>
                  <a:schemeClr val="dk1"/>
                </a:solidFill>
              </a:rPr>
              <a:t>every review restarts from zero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1"/>
          <p:cNvSpPr txBox="1"/>
          <p:nvPr>
            <p:ph type="title"/>
          </p:nvPr>
        </p:nvSpPr>
        <p:spPr>
          <a:xfrm>
            <a:off x="311700" y="10853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Scenario</a:t>
            </a:r>
            <a:endParaRPr/>
          </a:p>
        </p:txBody>
      </p:sp>
      <p:sp>
        <p:nvSpPr>
          <p:cNvPr id="257" name="Google Shape;257;p31"/>
          <p:cNvSpPr txBox="1"/>
          <p:nvPr>
            <p:ph idx="1" type="body"/>
          </p:nvPr>
        </p:nvSpPr>
        <p:spPr>
          <a:xfrm>
            <a:off x="311700" y="865250"/>
            <a:ext cx="8520600" cy="32448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AI Use Case Intake Review Process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Users submit their use-case with details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Reviews are performed using Gemini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Gemini produces the same recommendation, but quality of the recommendation remains inconsistent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Complaints from various sources start rolling in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32" title="Excalidraw - Three Pillars.png"/>
          <p:cNvPicPr preferRelativeResize="0"/>
          <p:nvPr/>
        </p:nvPicPr>
        <p:blipFill rotWithShape="1">
          <a:blip r:embed="rId3">
            <a:alphaModFix/>
          </a:blip>
          <a:srcRect b="11188" l="0" r="0" t="3210"/>
          <a:stretch/>
        </p:blipFill>
        <p:spPr>
          <a:xfrm>
            <a:off x="0" y="0"/>
            <a:ext cx="9144001" cy="430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33" title="Excalidraw - First Pillar - Sourc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9152" cy="43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34" title="Excalidraw - Second Pillar - Benchmark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434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5" title="Excalidraw - Third Pillar - Feedback Loop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434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6" title="Excalidraw - Conclus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4327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311700" y="10853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</a:t>
            </a:r>
            <a:endParaRPr/>
          </a:p>
        </p:txBody>
      </p:sp>
      <p:pic>
        <p:nvPicPr>
          <p:cNvPr id="288" name="Google Shape;28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3475" y="114309"/>
            <a:ext cx="4697052" cy="4157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" name="Google Shape;297;p38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298" name="Google Shape;298;p38"/>
            <p:cNvPicPr preferRelativeResize="0"/>
            <p:nvPr/>
          </p:nvPicPr>
          <p:blipFill>
            <a:blip r:embed="rId3">
              <a:alphaModFix amt="16000"/>
            </a:blip>
            <a:stretch>
              <a:fillRect/>
            </a:stretch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38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38"/>
          <p:cNvSpPr txBox="1"/>
          <p:nvPr/>
        </p:nvSpPr>
        <p:spPr>
          <a:xfrm>
            <a:off x="125" y="1669669"/>
            <a:ext cx="9144000" cy="2678400"/>
          </a:xfrm>
          <a:prstGeom prst="rect">
            <a:avLst/>
          </a:prstGeom>
          <a:noFill/>
          <a:ln>
            <a:noFill/>
          </a:ln>
          <a:effectLst>
            <a:outerShdw rotWithShape="0" algn="bl" dist="9525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Maryland Data Academy </a:t>
            </a:r>
            <a:r>
              <a:rPr b="1" lang="en" sz="32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 sz="3200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BF123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Building an Data AI-Ready Workforce </a:t>
            </a:r>
            <a:endParaRPr sz="2400">
              <a:solidFill>
                <a:srgbClr val="BF123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BF123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Stephanie Garland, Director of Data Literacy, DoIT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2400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38"/>
          <p:cNvSpPr/>
          <p:nvPr/>
        </p:nvSpPr>
        <p:spPr>
          <a:xfrm>
            <a:off x="1403900" y="1356400"/>
            <a:ext cx="6373500" cy="279900"/>
          </a:xfrm>
          <a:prstGeom prst="rightArrow">
            <a:avLst>
              <a:gd fmla="val 50000" name="adj1"/>
              <a:gd fmla="val 92734" name="adj2"/>
            </a:avLst>
          </a:prstGeom>
          <a:solidFill>
            <a:srgbClr val="FFC42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8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sz="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9"/>
          <p:cNvSpPr txBox="1"/>
          <p:nvPr>
            <p:ph type="title"/>
          </p:nvPr>
        </p:nvSpPr>
        <p:spPr>
          <a:xfrm>
            <a:off x="311700" y="10853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9"/>
          <p:cNvSpPr txBox="1"/>
          <p:nvPr>
            <p:ph idx="1" type="body"/>
          </p:nvPr>
        </p:nvSpPr>
        <p:spPr>
          <a:xfrm>
            <a:off x="311700" y="865250"/>
            <a:ext cx="8520600" cy="32448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  <p:pic>
        <p:nvPicPr>
          <p:cNvPr id="309" name="Google Shape;30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40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319" name="Google Shape;319;p40"/>
            <p:cNvPicPr preferRelativeResize="0"/>
            <p:nvPr/>
          </p:nvPicPr>
          <p:blipFill>
            <a:blip r:embed="rId3">
              <a:alphaModFix amt="16000"/>
            </a:blip>
            <a:stretch>
              <a:fillRect/>
            </a:stretch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40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40"/>
          <p:cNvSpPr txBox="1"/>
          <p:nvPr/>
        </p:nvSpPr>
        <p:spPr>
          <a:xfrm>
            <a:off x="125" y="1669669"/>
            <a:ext cx="9144000" cy="2422800"/>
          </a:xfrm>
          <a:prstGeom prst="rect">
            <a:avLst/>
          </a:prstGeom>
          <a:noFill/>
          <a:ln>
            <a:noFill/>
          </a:ln>
          <a:effectLst>
            <a:outerShdw rotWithShape="0" algn="bl" dist="9525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Maryland Data Academy </a:t>
            </a:r>
            <a:endParaRPr b="1" sz="3200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Building a Data AI - Ready Workforce </a:t>
            </a:r>
            <a:endParaRPr b="1" sz="3200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3600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40"/>
          <p:cNvSpPr/>
          <p:nvPr/>
        </p:nvSpPr>
        <p:spPr>
          <a:xfrm>
            <a:off x="1403900" y="1356400"/>
            <a:ext cx="6373500" cy="279900"/>
          </a:xfrm>
          <a:prstGeom prst="rightArrow">
            <a:avLst>
              <a:gd fmla="val 50000" name="adj1"/>
              <a:gd fmla="val 92734" name="adj2"/>
            </a:avLst>
          </a:prstGeom>
          <a:solidFill>
            <a:srgbClr val="FFC42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0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sz="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74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74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4807"/>
            <a:ext cx="9170324" cy="5158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70324" cy="5158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" y="0"/>
            <a:ext cx="914399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" name="Google Shape;383;p51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384" name="Google Shape;384;p51"/>
            <p:cNvPicPr preferRelativeResize="0"/>
            <p:nvPr/>
          </p:nvPicPr>
          <p:blipFill>
            <a:blip r:embed="rId3">
              <a:alphaModFix amt="16000"/>
            </a:blip>
            <a:stretch>
              <a:fillRect/>
            </a:stretch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5" name="Google Shape;385;p51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6" name="Google Shape;386;p51"/>
          <p:cNvGrpSpPr/>
          <p:nvPr/>
        </p:nvGrpSpPr>
        <p:grpSpPr>
          <a:xfrm>
            <a:off x="4533363" y="51"/>
            <a:ext cx="4610532" cy="4321726"/>
            <a:chOff x="4936111" y="2591409"/>
            <a:chExt cx="8484602" cy="5104200"/>
          </a:xfrm>
        </p:grpSpPr>
        <p:sp>
          <p:nvSpPr>
            <p:cNvPr id="387" name="Google Shape;387;p51"/>
            <p:cNvSpPr/>
            <p:nvPr/>
          </p:nvSpPr>
          <p:spPr>
            <a:xfrm>
              <a:off x="4936111" y="2591409"/>
              <a:ext cx="8455800" cy="5104200"/>
            </a:xfrm>
            <a:prstGeom prst="roundRect">
              <a:avLst>
                <a:gd fmla="val 6717" name="adj"/>
              </a:avLst>
            </a:prstGeom>
            <a:solidFill>
              <a:srgbClr val="FFC42E"/>
            </a:solidFill>
            <a:ln>
              <a:noFill/>
            </a:ln>
          </p:spPr>
          <p:txBody>
            <a:bodyPr anchorCtr="0" anchor="ctr" bIns="46975" lIns="46975" spcFirstLastPara="1" rIns="46975" wrap="square" tIns="46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19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51"/>
            <p:cNvSpPr txBox="1"/>
            <p:nvPr/>
          </p:nvSpPr>
          <p:spPr>
            <a:xfrm>
              <a:off x="5007212" y="2746120"/>
              <a:ext cx="8413500" cy="47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975" lIns="46975" spcFirstLastPara="1" rIns="46975" wrap="square" tIns="46975">
              <a:noAutofit/>
            </a:bodyPr>
            <a:lstStyle/>
            <a:p>
              <a:pPr indent="-221772" lvl="0" marL="234818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44"/>
                <a:buFont typeface="Montserrat SemiBold"/>
                <a:buChar char="➔"/>
              </a:pPr>
              <a:r>
                <a:rPr lang="en" sz="1644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We meet each 1st Friday per month</a:t>
              </a:r>
              <a:endParaRPr sz="1644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234818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44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-221772" lvl="0" marL="234818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44"/>
                <a:buFont typeface="Montserrat SemiBold"/>
                <a:buChar char="➔"/>
              </a:pPr>
              <a:r>
                <a:rPr lang="en" sz="1644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Forward this invite to colleagues who might be interested in joining</a:t>
              </a:r>
              <a:endParaRPr sz="1644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234818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44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-221772" lvl="0" marL="234818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44"/>
                <a:buFont typeface="Montserrat SemiBold"/>
                <a:buChar char="➔"/>
              </a:pPr>
              <a:r>
                <a:rPr lang="en" sz="1644" u="sng">
                  <a:solidFill>
                    <a:srgbClr val="0000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Submit your AI use cases</a:t>
              </a:r>
              <a:r>
                <a:rPr lang="en" sz="1644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 to our inventory </a:t>
              </a:r>
              <a:endParaRPr sz="1644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44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-221772" lvl="0" marL="234818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44"/>
                <a:buFont typeface="Montserrat SemiBold"/>
                <a:buChar char="➔"/>
              </a:pPr>
              <a:r>
                <a:rPr lang="en" sz="1644" u="sng">
                  <a:solidFill>
                    <a:srgbClr val="0000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Book MDAI Office Hours</a:t>
              </a:r>
              <a:endParaRPr sz="1644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469637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44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-221772" lvl="0" marL="234818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44"/>
                <a:buFont typeface="Montserrat SemiBold"/>
                <a:buChar char="➔"/>
              </a:pPr>
              <a:r>
                <a:rPr lang="en" sz="1644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Email </a:t>
              </a:r>
              <a:r>
                <a:rPr lang="en" sz="1644" u="sng">
                  <a:solidFill>
                    <a:srgbClr val="0000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AI@Maryland.gov</a:t>
              </a:r>
              <a:r>
                <a:rPr lang="en" sz="1644">
                  <a:solidFill>
                    <a:srgbClr val="0000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 </a:t>
              </a:r>
              <a:r>
                <a:rPr lang="en" sz="1644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to show your team’s AI work at a future CoP!</a:t>
              </a:r>
              <a:endParaRPr sz="1644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389" name="Google Shape;389;p51"/>
          <p:cNvSpPr txBox="1"/>
          <p:nvPr/>
        </p:nvSpPr>
        <p:spPr>
          <a:xfrm>
            <a:off x="818052" y="2001000"/>
            <a:ext cx="370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b="1" lang="en" sz="3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What’s Next?</a:t>
            </a:r>
            <a:endParaRPr b="1" sz="3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90" name="Google Shape;390;p51"/>
          <p:cNvCxnSpPr/>
          <p:nvPr/>
        </p:nvCxnSpPr>
        <p:spPr>
          <a:xfrm>
            <a:off x="697238" y="1840413"/>
            <a:ext cx="0" cy="880500"/>
          </a:xfrm>
          <a:prstGeom prst="straightConnector1">
            <a:avLst/>
          </a:prstGeom>
          <a:noFill/>
          <a:ln cap="flat" cmpd="sng" w="152400">
            <a:solidFill>
              <a:srgbClr val="FFC42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51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sz="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