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4" r:id="rId4"/>
    <p:sldMasterId id="2147483695" r:id="rId5"/>
    <p:sldMasterId id="214748369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713921bc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713921bc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713921bc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713921bc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13921bc2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713921bc2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713921bc2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713921bc2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713921bc2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713921bc2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713921bc2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713921bc2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782bd19d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782bd19d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9ed138a5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9ed138a5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782bd19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782bd19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55555"/>
                </a:solidFill>
              </a:rPr>
              <a:t>Cybersecurity tool (drop in page views may denote an issue)</a:t>
            </a:r>
            <a:endParaRPr sz="18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" sz="1800">
                <a:solidFill>
                  <a:srgbClr val="555555"/>
                </a:solidFill>
              </a:rPr>
              <a:t>Plain language tool (asses web page content)</a:t>
            </a:r>
            <a:endParaRPr sz="1800">
              <a:solidFill>
                <a:srgbClr val="555555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782bd19d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782bd19d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782bd19d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782bd19d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782bd19d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782bd19d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782bd19d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782bd19d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782bd19d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782bd19d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9d25067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f9d2506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9f0bf7f76_11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f9f0bf7f76_1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9f0bf7f76_11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f9f0bf7f76_1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9f0bf7f76_1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9f0bf7f76_11_10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9f0bf7f76_11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f9f0bf7f76_1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9f0bf7f76_1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9f0bf7f76_11_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9f0bf7f76_11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f9f0bf7f76_1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a05a649c2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fa05a649c2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75e018f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75e018f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782bd19d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782bd19d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713921bc2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713921bc2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571501" y="727982"/>
            <a:ext cx="8001000" cy="20574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71501" y="2703059"/>
            <a:ext cx="8001000" cy="790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14"/>
          <p:cNvSpPr/>
          <p:nvPr/>
        </p:nvSpPr>
        <p:spPr>
          <a:xfrm>
            <a:off x="0" y="0"/>
            <a:ext cx="4572000" cy="4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572000" y="0"/>
            <a:ext cx="2829000" cy="47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401000" y="0"/>
            <a:ext cx="1743000" cy="4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8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Title + Body">
  <p:cSld name="TITLE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Section Title + Title">
  <p:cSld name="TITLE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314325" y="251460"/>
            <a:ext cx="8515500" cy="28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lt2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- Title Only">
  <p:cSld name="TITLE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Body 2 cols">
  <p:cSld name="TITLE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4325" y="1076325"/>
            <a:ext cx="38100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5019825" y="1076325"/>
            <a:ext cx="38100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- Body 3 cols">
  <p:cSld name="TITLE_1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4325" y="1076325"/>
            <a:ext cx="22956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3424275" y="1076325"/>
            <a:ext cx="22956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3" type="body"/>
          </p:nvPr>
        </p:nvSpPr>
        <p:spPr>
          <a:xfrm>
            <a:off x="6534225" y="1076325"/>
            <a:ext cx="22956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- Section Divider">
  <p:cSld name="TITLE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20"/>
          <p:cNvSpPr txBox="1"/>
          <p:nvPr>
            <p:ph type="title"/>
          </p:nvPr>
        </p:nvSpPr>
        <p:spPr>
          <a:xfrm>
            <a:off x="571500" y="1347430"/>
            <a:ext cx="8001000" cy="204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- Layout Full">
  <p:cSld name="TITLE_1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21"/>
          <p:cNvSpPr/>
          <p:nvPr>
            <p:ph idx="2" type="pic"/>
          </p:nvPr>
        </p:nvSpPr>
        <p:spPr>
          <a:xfrm>
            <a:off x="314325" y="1076325"/>
            <a:ext cx="8515500" cy="3096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314325" y="4225997"/>
            <a:ext cx="8515500" cy="285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- Layout Half">
  <p:cSld name="TITLE_1_1_1_1_1_1_1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22"/>
          <p:cNvSpPr/>
          <p:nvPr>
            <p:ph idx="2" type="pic"/>
          </p:nvPr>
        </p:nvSpPr>
        <p:spPr>
          <a:xfrm>
            <a:off x="314325" y="1076325"/>
            <a:ext cx="4095900" cy="3333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4800600" y="1076325"/>
            <a:ext cx="4029000" cy="3333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 - Layout Third">
  <p:cSld name="TITLE_1_1_1_1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23"/>
          <p:cNvSpPr/>
          <p:nvPr>
            <p:ph idx="2" type="pic"/>
          </p:nvPr>
        </p:nvSpPr>
        <p:spPr>
          <a:xfrm>
            <a:off x="314325" y="1076325"/>
            <a:ext cx="2733600" cy="3333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3371925" y="1076325"/>
            <a:ext cx="5457900" cy="3333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Site/App Desktop">
  <p:cSld name="TITLE_1_1_1_1_1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4800675" y="400050"/>
            <a:ext cx="40230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4800600" y="1076325"/>
            <a:ext cx="4023000" cy="3619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4"/>
          <p:cNvSpPr/>
          <p:nvPr/>
        </p:nvSpPr>
        <p:spPr>
          <a:xfrm>
            <a:off x="0" y="4373600"/>
            <a:ext cx="9144000" cy="7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4"/>
          <p:cNvSpPr/>
          <p:nvPr>
            <p:ph idx="2" type="pic"/>
          </p:nvPr>
        </p:nvSpPr>
        <p:spPr>
          <a:xfrm>
            <a:off x="0" y="95250"/>
            <a:ext cx="4572000" cy="50481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Site/App Mobile">
  <p:cSld name="TITLE_1_1_1_1_1_1_1_1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3371850" y="400050"/>
            <a:ext cx="54579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371850" y="1076325"/>
            <a:ext cx="5457900" cy="3619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5"/>
          <p:cNvSpPr/>
          <p:nvPr/>
        </p:nvSpPr>
        <p:spPr>
          <a:xfrm>
            <a:off x="0" y="4373880"/>
            <a:ext cx="9144000" cy="7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5"/>
          <p:cNvSpPr/>
          <p:nvPr>
            <p:ph idx="2" type="pic"/>
          </p:nvPr>
        </p:nvSpPr>
        <p:spPr>
          <a:xfrm>
            <a:off x="0" y="95250"/>
            <a:ext cx="3048000" cy="50481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5"/>
          <p:cNvSpPr txBox="1"/>
          <p:nvPr>
            <p:ph idx="3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Body Big Point">
  <p:cSld name="TITLE_1_1_1_1_1_1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6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314400" y="1287780"/>
            <a:ext cx="8415600" cy="19050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3" type="subTitle"/>
          </p:nvPr>
        </p:nvSpPr>
        <p:spPr>
          <a:xfrm>
            <a:off x="314400" y="2906078"/>
            <a:ext cx="8515200" cy="1244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Blank">
  <p:cSld name="TITLE_1_1_1_1_1_1_1_1_1_1_2_1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7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0" y="0"/>
            <a:ext cx="9144000" cy="49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Thank You 1">
  <p:cSld name="TITLE_1_1_1_1_1_1_1_1_1_1_2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 rotWithShape="1">
          <a:blip r:embed="rId2">
            <a:alphaModFix/>
          </a:blip>
          <a:srcRect b="14479" l="0" r="0" t="0"/>
          <a:stretch/>
        </p:blipFill>
        <p:spPr>
          <a:xfrm>
            <a:off x="-12700" y="-12700"/>
            <a:ext cx="923545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8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8"/>
          <p:cNvSpPr txBox="1"/>
          <p:nvPr>
            <p:ph type="title"/>
          </p:nvPr>
        </p:nvSpPr>
        <p:spPr>
          <a:xfrm>
            <a:off x="4485600" y="85725"/>
            <a:ext cx="4572600" cy="1647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Thank You 2">
  <p:cSld name="TITLE_1_1_1_1_1_1_1_1_1_1_2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 rotWithShape="1">
          <a:blip r:embed="rId2">
            <a:alphaModFix/>
          </a:blip>
          <a:srcRect b="13645" l="0" r="0" t="19137"/>
          <a:stretch/>
        </p:blipFill>
        <p:spPr>
          <a:xfrm>
            <a:off x="-22375" y="-22375"/>
            <a:ext cx="9235451" cy="524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9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9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252075" y="41098"/>
            <a:ext cx="4111800" cy="1340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Thank You 3">
  <p:cSld name="TITLE_1_1_1_1_1_1_1_1_1_1_2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 rotWithShape="1">
          <a:blip r:embed="rId2">
            <a:alphaModFix/>
          </a:blip>
          <a:srcRect b="12950" l="0" r="0" t="3772"/>
          <a:stretch/>
        </p:blipFill>
        <p:spPr>
          <a:xfrm>
            <a:off x="-13225" y="-13225"/>
            <a:ext cx="9235441" cy="525197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30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chemeClr val="dk2"/>
                </a:solidFill>
              </a:defRPr>
            </a:lvl1pPr>
            <a:lvl2pPr lvl="1">
              <a:buNone/>
              <a:defRPr b="1">
                <a:solidFill>
                  <a:schemeClr val="dk2"/>
                </a:solidFill>
              </a:defRPr>
            </a:lvl2pPr>
            <a:lvl3pPr lvl="2">
              <a:buNone/>
              <a:defRPr b="1">
                <a:solidFill>
                  <a:schemeClr val="dk2"/>
                </a:solidFill>
              </a:defRPr>
            </a:lvl3pPr>
            <a:lvl4pPr lvl="3">
              <a:buNone/>
              <a:defRPr b="1">
                <a:solidFill>
                  <a:schemeClr val="dk2"/>
                </a:solidFill>
              </a:defRPr>
            </a:lvl4pPr>
            <a:lvl5pPr lvl="4">
              <a:buNone/>
              <a:defRPr b="1">
                <a:solidFill>
                  <a:schemeClr val="dk2"/>
                </a:solidFill>
              </a:defRPr>
            </a:lvl5pPr>
            <a:lvl6pPr lvl="5">
              <a:buNone/>
              <a:defRPr b="1">
                <a:solidFill>
                  <a:schemeClr val="dk2"/>
                </a:solidFill>
              </a:defRPr>
            </a:lvl6pPr>
            <a:lvl7pPr lvl="6">
              <a:buNone/>
              <a:defRPr b="1">
                <a:solidFill>
                  <a:schemeClr val="dk2"/>
                </a:solidFill>
              </a:defRPr>
            </a:lvl7pPr>
            <a:lvl8pPr lvl="7">
              <a:buNone/>
              <a:defRPr b="1">
                <a:solidFill>
                  <a:schemeClr val="dk2"/>
                </a:solidFill>
              </a:defRPr>
            </a:lvl8pPr>
            <a:lvl9pPr lvl="8">
              <a:buNone/>
              <a:defRPr b="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30"/>
          <p:cNvSpPr txBox="1"/>
          <p:nvPr>
            <p:ph type="title"/>
          </p:nvPr>
        </p:nvSpPr>
        <p:spPr>
          <a:xfrm>
            <a:off x="252427" y="368617"/>
            <a:ext cx="4632000" cy="1143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d71d9b30_7_0)">
  <p:cSld name="Generated (g3f6d71d9b30_7_0)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Title + Body">
  <p:cSld name="TITLE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Body 2 cols">
  <p:cSld name="TITLE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4"/>
          <p:cNvSpPr txBox="1"/>
          <p:nvPr>
            <p:ph idx="1" type="body"/>
          </p:nvPr>
        </p:nvSpPr>
        <p:spPr>
          <a:xfrm>
            <a:off x="314325" y="1076325"/>
            <a:ext cx="3810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34"/>
          <p:cNvSpPr txBox="1"/>
          <p:nvPr>
            <p:ph idx="2" type="body"/>
          </p:nvPr>
        </p:nvSpPr>
        <p:spPr>
          <a:xfrm>
            <a:off x="5019825" y="1076325"/>
            <a:ext cx="3810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3" name="Google Shape;163;p34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- Body 3 cols">
  <p:cSld name="TITLE_1_1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314325" y="1076325"/>
            <a:ext cx="2295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p35"/>
          <p:cNvSpPr txBox="1"/>
          <p:nvPr>
            <p:ph idx="2" type="body"/>
          </p:nvPr>
        </p:nvSpPr>
        <p:spPr>
          <a:xfrm>
            <a:off x="3424275" y="1076325"/>
            <a:ext cx="2295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8" name="Google Shape;168;p35"/>
          <p:cNvSpPr txBox="1"/>
          <p:nvPr>
            <p:ph idx="3" type="body"/>
          </p:nvPr>
        </p:nvSpPr>
        <p:spPr>
          <a:xfrm>
            <a:off x="6534225" y="1076325"/>
            <a:ext cx="2295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35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- Title Only">
  <p:cSld name="TITLE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36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>
            <p:ph type="ctrTitle"/>
          </p:nvPr>
        </p:nvSpPr>
        <p:spPr>
          <a:xfrm>
            <a:off x="571501" y="727982"/>
            <a:ext cx="8001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5" name="Google Shape;175;p37"/>
          <p:cNvSpPr txBox="1"/>
          <p:nvPr>
            <p:ph idx="1" type="subTitle"/>
          </p:nvPr>
        </p:nvSpPr>
        <p:spPr>
          <a:xfrm>
            <a:off x="571501" y="2703059"/>
            <a:ext cx="80010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6" name="Google Shape;176;p37"/>
          <p:cNvSpPr/>
          <p:nvPr/>
        </p:nvSpPr>
        <p:spPr>
          <a:xfrm>
            <a:off x="0" y="0"/>
            <a:ext cx="4572000" cy="4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7"/>
          <p:cNvSpPr/>
          <p:nvPr/>
        </p:nvSpPr>
        <p:spPr>
          <a:xfrm>
            <a:off x="4572000" y="0"/>
            <a:ext cx="2829000" cy="47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7401000" y="0"/>
            <a:ext cx="1743000" cy="4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8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Section Title + Title">
  <p:cSld name="TITLE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38"/>
          <p:cNvSpPr txBox="1"/>
          <p:nvPr>
            <p:ph idx="1" type="subTitle"/>
          </p:nvPr>
        </p:nvSpPr>
        <p:spPr>
          <a:xfrm>
            <a:off x="314325" y="251460"/>
            <a:ext cx="8515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2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38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- Section Divider">
  <p:cSld name="TITLE_1_1_1_1_1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39"/>
          <p:cNvSpPr txBox="1"/>
          <p:nvPr>
            <p:ph type="title"/>
          </p:nvPr>
        </p:nvSpPr>
        <p:spPr>
          <a:xfrm>
            <a:off x="571500" y="1347430"/>
            <a:ext cx="8001000" cy="204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- Layout Full">
  <p:cSld name="TITLE_1_1_1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40"/>
          <p:cNvSpPr/>
          <p:nvPr>
            <p:ph idx="2" type="pic"/>
          </p:nvPr>
        </p:nvSpPr>
        <p:spPr>
          <a:xfrm>
            <a:off x="314325" y="1076325"/>
            <a:ext cx="8515500" cy="3096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0"/>
          <p:cNvSpPr txBox="1"/>
          <p:nvPr>
            <p:ph idx="1" type="subTitle"/>
          </p:nvPr>
        </p:nvSpPr>
        <p:spPr>
          <a:xfrm>
            <a:off x="314325" y="4225997"/>
            <a:ext cx="85155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0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- Layout Half">
  <p:cSld name="TITLE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41"/>
          <p:cNvSpPr/>
          <p:nvPr>
            <p:ph idx="2" type="pic"/>
          </p:nvPr>
        </p:nvSpPr>
        <p:spPr>
          <a:xfrm>
            <a:off x="314325" y="1076325"/>
            <a:ext cx="4095900" cy="3333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1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41"/>
          <p:cNvSpPr txBox="1"/>
          <p:nvPr>
            <p:ph idx="1" type="body"/>
          </p:nvPr>
        </p:nvSpPr>
        <p:spPr>
          <a:xfrm>
            <a:off x="4800600" y="1076325"/>
            <a:ext cx="40290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 - Layout Third">
  <p:cSld name="TITLE_1_1_1_1_1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2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42"/>
          <p:cNvSpPr/>
          <p:nvPr>
            <p:ph idx="2" type="pic"/>
          </p:nvPr>
        </p:nvSpPr>
        <p:spPr>
          <a:xfrm>
            <a:off x="314325" y="1076325"/>
            <a:ext cx="2733600" cy="3333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42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42"/>
          <p:cNvSpPr txBox="1"/>
          <p:nvPr>
            <p:ph idx="1" type="body"/>
          </p:nvPr>
        </p:nvSpPr>
        <p:spPr>
          <a:xfrm>
            <a:off x="3371925" y="1076325"/>
            <a:ext cx="54579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Site/App Desktop">
  <p:cSld name="TITLE_1_1_1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/>
          <p:nvPr>
            <p:ph type="title"/>
          </p:nvPr>
        </p:nvSpPr>
        <p:spPr>
          <a:xfrm>
            <a:off x="4800675" y="400050"/>
            <a:ext cx="402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43"/>
          <p:cNvSpPr txBox="1"/>
          <p:nvPr>
            <p:ph idx="1" type="body"/>
          </p:nvPr>
        </p:nvSpPr>
        <p:spPr>
          <a:xfrm>
            <a:off x="4800600" y="1076325"/>
            <a:ext cx="40230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5" name="Google Shape;205;p43"/>
          <p:cNvSpPr/>
          <p:nvPr/>
        </p:nvSpPr>
        <p:spPr>
          <a:xfrm>
            <a:off x="0" y="4373600"/>
            <a:ext cx="9144000" cy="7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3"/>
          <p:cNvSpPr/>
          <p:nvPr>
            <p:ph idx="2" type="pic"/>
          </p:nvPr>
        </p:nvSpPr>
        <p:spPr>
          <a:xfrm>
            <a:off x="0" y="95250"/>
            <a:ext cx="4572000" cy="50481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43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Site/App Mobile">
  <p:cSld name="TITLE_1_1_1_1_1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>
            <p:ph type="title"/>
          </p:nvPr>
        </p:nvSpPr>
        <p:spPr>
          <a:xfrm>
            <a:off x="3371850" y="400050"/>
            <a:ext cx="5457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44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4"/>
          <p:cNvSpPr txBox="1"/>
          <p:nvPr>
            <p:ph idx="1" type="body"/>
          </p:nvPr>
        </p:nvSpPr>
        <p:spPr>
          <a:xfrm>
            <a:off x="3371850" y="1076325"/>
            <a:ext cx="54579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44"/>
          <p:cNvSpPr/>
          <p:nvPr/>
        </p:nvSpPr>
        <p:spPr>
          <a:xfrm>
            <a:off x="0" y="4373880"/>
            <a:ext cx="9144000" cy="7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4"/>
          <p:cNvSpPr/>
          <p:nvPr>
            <p:ph idx="2" type="pic"/>
          </p:nvPr>
        </p:nvSpPr>
        <p:spPr>
          <a:xfrm>
            <a:off x="0" y="95250"/>
            <a:ext cx="3048000" cy="50481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44"/>
          <p:cNvSpPr txBox="1"/>
          <p:nvPr>
            <p:ph idx="3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Body Big Point">
  <p:cSld name="TITLE_1_1_1_1_1_1_1_1_1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45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45"/>
          <p:cNvSpPr txBox="1"/>
          <p:nvPr>
            <p:ph idx="1" type="subTitle"/>
          </p:nvPr>
        </p:nvSpPr>
        <p:spPr>
          <a:xfrm>
            <a:off x="314400" y="1287780"/>
            <a:ext cx="8415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5"/>
          <p:cNvSpPr txBox="1"/>
          <p:nvPr>
            <p:ph idx="3" type="subTitle"/>
          </p:nvPr>
        </p:nvSpPr>
        <p:spPr>
          <a:xfrm>
            <a:off x="314400" y="2906078"/>
            <a:ext cx="85152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Blank">
  <p:cSld name="TITLE_1_1_1_1_1_1_1_1_1_1_2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6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46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46"/>
          <p:cNvSpPr/>
          <p:nvPr/>
        </p:nvSpPr>
        <p:spPr>
          <a:xfrm>
            <a:off x="0" y="0"/>
            <a:ext cx="9144000" cy="49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Thank You 1">
  <p:cSld name="TITLE_1_1_1_1_1_1_1_1_1_1_2_1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7"/>
          <p:cNvPicPr preferRelativeResize="0"/>
          <p:nvPr/>
        </p:nvPicPr>
        <p:blipFill rotWithShape="1">
          <a:blip r:embed="rId2">
            <a:alphaModFix/>
          </a:blip>
          <a:srcRect b="14479" l="0" r="0" t="0"/>
          <a:stretch/>
        </p:blipFill>
        <p:spPr>
          <a:xfrm>
            <a:off x="-12700" y="-12700"/>
            <a:ext cx="923545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7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47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47"/>
          <p:cNvSpPr txBox="1"/>
          <p:nvPr>
            <p:ph type="title"/>
          </p:nvPr>
        </p:nvSpPr>
        <p:spPr>
          <a:xfrm>
            <a:off x="4485600" y="85725"/>
            <a:ext cx="4572600" cy="16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Thank You 2">
  <p:cSld name="TITLE_1_1_1_1_1_1_1_1_1_1_2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8"/>
          <p:cNvPicPr preferRelativeResize="0"/>
          <p:nvPr/>
        </p:nvPicPr>
        <p:blipFill rotWithShape="1">
          <a:blip r:embed="rId2">
            <a:alphaModFix/>
          </a:blip>
          <a:srcRect b="13645" l="0" r="0" t="19137"/>
          <a:stretch/>
        </p:blipFill>
        <p:spPr>
          <a:xfrm>
            <a:off x="-22375" y="-22375"/>
            <a:ext cx="9235451" cy="52447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8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48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8"/>
          <p:cNvSpPr txBox="1"/>
          <p:nvPr>
            <p:ph type="title"/>
          </p:nvPr>
        </p:nvSpPr>
        <p:spPr>
          <a:xfrm>
            <a:off x="252075" y="41098"/>
            <a:ext cx="4111800" cy="1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Thank You 3">
  <p:cSld name="TITLE_1_1_1_1_1_1_1_1_1_1_2_1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9"/>
          <p:cNvPicPr preferRelativeResize="0"/>
          <p:nvPr/>
        </p:nvPicPr>
        <p:blipFill rotWithShape="1">
          <a:blip r:embed="rId2">
            <a:alphaModFix/>
          </a:blip>
          <a:srcRect b="12950" l="0" r="0" t="3772"/>
          <a:stretch/>
        </p:blipFill>
        <p:spPr>
          <a:xfrm>
            <a:off x="-13225" y="-13225"/>
            <a:ext cx="9235441" cy="525197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9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49"/>
          <p:cNvSpPr txBox="1"/>
          <p:nvPr>
            <p:ph idx="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49"/>
          <p:cNvSpPr txBox="1"/>
          <p:nvPr>
            <p:ph type="title"/>
          </p:nvPr>
        </p:nvSpPr>
        <p:spPr>
          <a:xfrm>
            <a:off x="252427" y="368617"/>
            <a:ext cx="46320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3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0" y="0"/>
            <a:ext cx="4572000" cy="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4572000" y="0"/>
            <a:ext cx="2829000" cy="9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7401000" y="0"/>
            <a:ext cx="1743000" cy="9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6" name="Google Shape;56;p13" title="DoL_secondary_cmyk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14325" y="4725693"/>
            <a:ext cx="835343" cy="285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>
            <a:off x="314325" y="4576889"/>
            <a:ext cx="8507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2282025" y="4725553"/>
            <a:ext cx="457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chemeClr val="dk2"/>
                </a:solidFill>
              </a:rPr>
              <a:t>Governor Wes Moore   </a:t>
            </a:r>
            <a:r>
              <a:rPr b="1" lang="en" sz="750">
                <a:solidFill>
                  <a:schemeClr val="lt2"/>
                </a:solidFill>
              </a:rPr>
              <a:t>◆</a:t>
            </a:r>
            <a:r>
              <a:rPr b="1" lang="en" sz="750">
                <a:solidFill>
                  <a:schemeClr val="dk2"/>
                </a:solidFill>
              </a:rPr>
              <a:t>   Lieutenant Governor Aruna Miller   </a:t>
            </a:r>
            <a:r>
              <a:rPr b="1" lang="en" sz="750">
                <a:solidFill>
                  <a:schemeClr val="lt2"/>
                </a:solidFill>
              </a:rPr>
              <a:t>◆</a:t>
            </a:r>
            <a:r>
              <a:rPr b="1" lang="en" sz="750">
                <a:solidFill>
                  <a:schemeClr val="dk2"/>
                </a:solidFill>
              </a:rPr>
              <a:t>   Secretary Katie Savage</a:t>
            </a:r>
            <a:endParaRPr b="1" sz="75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368269" y="4725553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50">
                <a:solidFill>
                  <a:schemeClr val="dk1"/>
                </a:solidFill>
              </a:defRPr>
            </a:lvl1pPr>
            <a:lvl2pPr lvl="1" algn="r">
              <a:buNone/>
              <a:defRPr sz="750">
                <a:solidFill>
                  <a:schemeClr val="dk1"/>
                </a:solidFill>
              </a:defRPr>
            </a:lvl2pPr>
            <a:lvl3pPr lvl="2" algn="r">
              <a:buNone/>
              <a:defRPr sz="750">
                <a:solidFill>
                  <a:schemeClr val="dk1"/>
                </a:solidFill>
              </a:defRPr>
            </a:lvl3pPr>
            <a:lvl4pPr lvl="3" algn="r">
              <a:buNone/>
              <a:defRPr sz="750">
                <a:solidFill>
                  <a:schemeClr val="dk1"/>
                </a:solidFill>
              </a:defRPr>
            </a:lvl4pPr>
            <a:lvl5pPr lvl="4" algn="r">
              <a:buNone/>
              <a:defRPr sz="750">
                <a:solidFill>
                  <a:schemeClr val="dk1"/>
                </a:solidFill>
              </a:defRPr>
            </a:lvl5pPr>
            <a:lvl6pPr lvl="5" algn="r">
              <a:buNone/>
              <a:defRPr sz="750">
                <a:solidFill>
                  <a:schemeClr val="dk1"/>
                </a:solidFill>
              </a:defRPr>
            </a:lvl6pPr>
            <a:lvl7pPr lvl="6" algn="r">
              <a:buNone/>
              <a:defRPr sz="750">
                <a:solidFill>
                  <a:schemeClr val="dk1"/>
                </a:solidFill>
              </a:defRPr>
            </a:lvl7pPr>
            <a:lvl8pPr lvl="7" algn="r">
              <a:buNone/>
              <a:defRPr sz="750">
                <a:solidFill>
                  <a:schemeClr val="dk1"/>
                </a:solidFill>
              </a:defRPr>
            </a:lvl8pPr>
            <a:lvl9pPr lvl="8" algn="r">
              <a:buNone/>
              <a:defRPr sz="75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62">
          <p15:clr>
            <a:srgbClr val="E46962"/>
          </p15:clr>
        </p15:guide>
        <p15:guide id="2" pos="198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2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32"/>
          <p:cNvSpPr/>
          <p:nvPr/>
        </p:nvSpPr>
        <p:spPr>
          <a:xfrm>
            <a:off x="0" y="0"/>
            <a:ext cx="4572000" cy="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/>
          <p:nvPr/>
        </p:nvSpPr>
        <p:spPr>
          <a:xfrm>
            <a:off x="4572000" y="0"/>
            <a:ext cx="2829000" cy="9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/>
          <p:nvPr/>
        </p:nvSpPr>
        <p:spPr>
          <a:xfrm>
            <a:off x="7401000" y="0"/>
            <a:ext cx="1743000" cy="9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32" title="DoL_secondary_cmyk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4325" y="4725693"/>
            <a:ext cx="835343" cy="285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32"/>
          <p:cNvCxnSpPr/>
          <p:nvPr/>
        </p:nvCxnSpPr>
        <p:spPr>
          <a:xfrm>
            <a:off x="314325" y="4576889"/>
            <a:ext cx="8507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32"/>
          <p:cNvSpPr txBox="1"/>
          <p:nvPr/>
        </p:nvSpPr>
        <p:spPr>
          <a:xfrm>
            <a:off x="2282025" y="4725553"/>
            <a:ext cx="457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Governor Wes Moore   </a:t>
            </a:r>
            <a:r>
              <a:rPr b="1" i="0" lang="en" sz="7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r>
              <a:rPr b="1" i="0" lang="en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Lieutenant Governor Aruna Miller   </a:t>
            </a:r>
            <a:r>
              <a:rPr b="1" i="0" lang="en" sz="7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r>
              <a:rPr b="1" i="0" lang="en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Secretary Katie Savage</a:t>
            </a:r>
            <a:endParaRPr b="1" i="0" sz="7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368269" y="4725553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62">
          <p15:clr>
            <a:srgbClr val="E46962"/>
          </p15:clr>
        </p15:guide>
        <p15:guide id="2" pos="19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forms/d/e/1FAIpQLSdA9b0oMNDvHj3s4NouySoVtx0qF_bM-lPWvieMXmZSKxV5-w/viewfor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analytics.maryland.gov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i.maryland.gov/gachatapp" TargetMode="External"/><Relationship Id="rId4" Type="http://schemas.openxmlformats.org/officeDocument/2006/relationships/hyperlink" Target="http://maryland.gov" TargetMode="External"/><Relationship Id="rId5" Type="http://schemas.openxmlformats.org/officeDocument/2006/relationships/hyperlink" Target="https://calendar.app.google/hU1s4VYVUxDDcHeRA" TargetMode="External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tzipovN7BMi5YRCQ9NHMUgfbpRjcRef3/view" TargetMode="External"/><Relationship Id="rId4" Type="http://schemas.openxmlformats.org/officeDocument/2006/relationships/image" Target="../media/image1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studio.workspace.google.com/skills" TargetMode="External"/><Relationship Id="rId4" Type="http://schemas.openxmlformats.org/officeDocument/2006/relationships/hyperlink" Target="http://www.youtube.com/watch?v=dUNt8kzjdX4" TargetMode="External"/><Relationship Id="rId5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itmaryland.service-now.com/doit?id=sc_cat_item&amp;sys_id=90ebe560db6bd300b302e9ec0b9619e0" TargetMode="External"/><Relationship Id="rId4" Type="http://schemas.openxmlformats.org/officeDocument/2006/relationships/hyperlink" Target="https://calendar.google.com/calendar/u/0/appointments/schedules/AcZssZ0npA6K5mL31wGMw6dc1QP2-4PqSRKfhghFn-wei3yFTpI04dPFUrqZJ_0v1U9zP5OjXcfy0COY" TargetMode="External"/><Relationship Id="rId5" Type="http://schemas.openxmlformats.org/officeDocument/2006/relationships/hyperlink" Target="mailto:AI@maryland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0"/>
          <p:cNvSpPr txBox="1"/>
          <p:nvPr>
            <p:ph type="ctrTitle"/>
          </p:nvPr>
        </p:nvSpPr>
        <p:spPr>
          <a:xfrm>
            <a:off x="571501" y="727982"/>
            <a:ext cx="8001000" cy="20574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Maryland AI Community of Practice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(MDAI)</a:t>
            </a:r>
            <a:endParaRPr/>
          </a:p>
        </p:txBody>
      </p:sp>
      <p:sp>
        <p:nvSpPr>
          <p:cNvPr id="244" name="Google Shape;244;p50"/>
          <p:cNvSpPr txBox="1"/>
          <p:nvPr>
            <p:ph idx="1" type="subTitle"/>
          </p:nvPr>
        </p:nvSpPr>
        <p:spPr>
          <a:xfrm>
            <a:off x="571501" y="3164436"/>
            <a:ext cx="8001000" cy="790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09/04/2026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51"/>
          <p:cNvSpPr txBox="1"/>
          <p:nvPr>
            <p:ph type="title"/>
          </p:nvPr>
        </p:nvSpPr>
        <p:spPr>
          <a:xfrm>
            <a:off x="314325" y="362913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Agenda</a:t>
            </a:r>
            <a:endParaRPr b="1"/>
          </a:p>
        </p:txBody>
      </p:sp>
      <p:sp>
        <p:nvSpPr>
          <p:cNvPr id="251" name="Google Shape;251;p51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Welcome and Introduction to the AI CoP (Lauren Maffeo, DoIT)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Google Analytics Chat App (Suran De Silva, DoIT and Ray Bell, DoIT)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Building An AI Voice Agent (Helen Liang, MDoD)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What’s Next (Lauren Maffeo, DoIT)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2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CoP Etiquette</a:t>
            </a:r>
            <a:endParaRPr b="1"/>
          </a:p>
        </p:txBody>
      </p:sp>
      <p:sp>
        <p:nvSpPr>
          <p:cNvPr id="258" name="Google Shape;258;p52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Mics on mute to prevent background noise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Only the speaker should have their camera on to avoid visual distractions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 your questions to the comments or Q&amp;A section of our chat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team will try to address questions in the chat asynchronously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Forward this meeting to peers who might be interested (click this </a:t>
            </a:r>
            <a:r>
              <a:rPr lang="en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form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Bring an owner’s mindset &amp; participate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3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3"/>
          <p:cNvSpPr txBox="1"/>
          <p:nvPr>
            <p:ph type="title"/>
          </p:nvPr>
        </p:nvSpPr>
        <p:spPr>
          <a:xfrm>
            <a:off x="314325" y="372197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MDAI’s Vision and Values</a:t>
            </a:r>
            <a:endParaRPr b="1"/>
          </a:p>
        </p:txBody>
      </p:sp>
      <p:sp>
        <p:nvSpPr>
          <p:cNvPr id="265" name="Google Shape;265;p53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</a:rPr>
              <a:t>The State of Maryland responsibly, ethically, and productively leverages AI/ML technologies to significantly improve constituent outcomes and reduce drudgery for the State workforce.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54"/>
          <p:cNvSpPr txBox="1"/>
          <p:nvPr>
            <p:ph type="title"/>
          </p:nvPr>
        </p:nvSpPr>
        <p:spPr>
          <a:xfrm>
            <a:off x="314325" y="344344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MDAI’s Values</a:t>
            </a:r>
            <a:endParaRPr b="1"/>
          </a:p>
        </p:txBody>
      </p:sp>
      <p:sp>
        <p:nvSpPr>
          <p:cNvPr id="272" name="Google Shape;272;p54"/>
          <p:cNvSpPr txBox="1"/>
          <p:nvPr>
            <p:ph idx="1" type="body"/>
          </p:nvPr>
        </p:nvSpPr>
        <p:spPr>
          <a:xfrm>
            <a:off x="314325" y="114131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Collaborate across teams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Show, don’t tell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Provide AI updates in a shared space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/>
          <p:nvPr>
            <p:ph type="title"/>
          </p:nvPr>
        </p:nvSpPr>
        <p:spPr>
          <a:xfrm>
            <a:off x="571500" y="1347430"/>
            <a:ext cx="8001000" cy="2047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Google Analytics Chat App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Suran De Silva, DoIT and Ray Bell, DoIT</a:t>
            </a:r>
            <a:endParaRPr/>
          </a:p>
        </p:txBody>
      </p:sp>
      <p:sp>
        <p:nvSpPr>
          <p:cNvPr id="278" name="Google Shape;278;p55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/>
          <p:nvPr/>
        </p:nvSpPr>
        <p:spPr>
          <a:xfrm>
            <a:off x="5273725" y="1431525"/>
            <a:ext cx="3565800" cy="2654700"/>
          </a:xfrm>
          <a:prstGeom prst="roundRect">
            <a:avLst>
              <a:gd fmla="val 3236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r>
              <a:rPr b="1" lang="en" sz="1100">
                <a:solidFill>
                  <a:srgbClr val="231F20"/>
                </a:solidFill>
              </a:rPr>
              <a:t>https://www.youtube.com/watch?v=-1e5CS_v0vY</a:t>
            </a:r>
            <a:endParaRPr b="1" sz="1100">
              <a:solidFill>
                <a:srgbClr val="231F20"/>
              </a:solidFill>
            </a:endParaRPr>
          </a:p>
        </p:txBody>
      </p:sp>
      <p:sp>
        <p:nvSpPr>
          <p:cNvPr id="284" name="Google Shape;284;p56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56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Google Analytics (GA)?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56" title="Screenshot 2026-08-14 121857.png"/>
          <p:cNvPicPr preferRelativeResize="0"/>
          <p:nvPr/>
        </p:nvPicPr>
        <p:blipFill rotWithShape="1">
          <a:blip r:embed="rId3">
            <a:alphaModFix/>
          </a:blip>
          <a:srcRect b="0" l="0" r="60112" t="0"/>
          <a:stretch/>
        </p:blipFill>
        <p:spPr>
          <a:xfrm>
            <a:off x="5401126" y="1624318"/>
            <a:ext cx="3310999" cy="18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6"/>
          <p:cNvSpPr/>
          <p:nvPr/>
        </p:nvSpPr>
        <p:spPr>
          <a:xfrm>
            <a:off x="492825" y="2850525"/>
            <a:ext cx="4641300" cy="141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8" name="Google Shape;288;p56"/>
          <p:cNvSpPr/>
          <p:nvPr/>
        </p:nvSpPr>
        <p:spPr>
          <a:xfrm>
            <a:off x="493825" y="2850525"/>
            <a:ext cx="66600" cy="1413000"/>
          </a:xfrm>
          <a:prstGeom prst="rect">
            <a:avLst/>
          </a:prstGeom>
          <a:solidFill>
            <a:srgbClr val="FFC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9" name="Google Shape;289;p56"/>
          <p:cNvSpPr txBox="1"/>
          <p:nvPr/>
        </p:nvSpPr>
        <p:spPr>
          <a:xfrm>
            <a:off x="715367" y="3064557"/>
            <a:ext cx="44034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6">
                <a:solidFill>
                  <a:schemeClr val="dk1"/>
                </a:solidFill>
              </a:rPr>
              <a:t>Used to improve </a:t>
            </a:r>
            <a:r>
              <a:rPr b="1" i="0" lang="en" sz="143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436">
                <a:solidFill>
                  <a:schemeClr val="dk1"/>
                </a:solidFill>
              </a:rPr>
              <a:t>c</a:t>
            </a:r>
            <a:r>
              <a:rPr b="1" i="0" lang="en" sz="143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ustomer </a:t>
            </a:r>
            <a:r>
              <a:rPr b="1" lang="en" sz="1436">
                <a:solidFill>
                  <a:schemeClr val="dk1"/>
                </a:solidFill>
              </a:rPr>
              <a:t>e</a:t>
            </a:r>
            <a:r>
              <a:rPr b="1" i="0" lang="en" sz="143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xperience</a:t>
            </a:r>
            <a:endParaRPr sz="1218">
              <a:solidFill>
                <a:schemeClr val="dk1"/>
              </a:solidFill>
            </a:endParaRPr>
          </a:p>
        </p:txBody>
      </p:sp>
      <p:sp>
        <p:nvSpPr>
          <p:cNvPr id="290" name="Google Shape;290;p56"/>
          <p:cNvSpPr txBox="1"/>
          <p:nvPr/>
        </p:nvSpPr>
        <p:spPr>
          <a:xfrm>
            <a:off x="715367" y="3362929"/>
            <a:ext cx="4194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75">
                <a:solidFill>
                  <a:schemeClr val="dk1"/>
                </a:solidFill>
              </a:rPr>
              <a:t>We use these behavioral insights to understand our audience's needs, streamline their journey, and build a better, more user-friendly experience.</a:t>
            </a:r>
            <a:endParaRPr sz="1218">
              <a:solidFill>
                <a:schemeClr val="dk1"/>
              </a:solidFill>
            </a:endParaRPr>
          </a:p>
        </p:txBody>
      </p:sp>
      <p:sp>
        <p:nvSpPr>
          <p:cNvPr id="291" name="Google Shape;291;p56"/>
          <p:cNvSpPr/>
          <p:nvPr/>
        </p:nvSpPr>
        <p:spPr>
          <a:xfrm>
            <a:off x="487150" y="1210125"/>
            <a:ext cx="4641300" cy="141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2" name="Google Shape;292;p56"/>
          <p:cNvSpPr txBox="1"/>
          <p:nvPr/>
        </p:nvSpPr>
        <p:spPr>
          <a:xfrm>
            <a:off x="715367" y="1362289"/>
            <a:ext cx="4403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8">
                <a:solidFill>
                  <a:schemeClr val="dk1"/>
                </a:solidFill>
              </a:rPr>
              <a:t>Captures web metrics</a:t>
            </a:r>
            <a:endParaRPr b="1" sz="1418">
              <a:solidFill>
                <a:schemeClr val="dk1"/>
              </a:solidFill>
            </a:endParaRPr>
          </a:p>
        </p:txBody>
      </p:sp>
      <p:sp>
        <p:nvSpPr>
          <p:cNvPr id="293" name="Google Shape;293;p56"/>
          <p:cNvSpPr txBox="1"/>
          <p:nvPr/>
        </p:nvSpPr>
        <p:spPr>
          <a:xfrm>
            <a:off x="715367" y="1660661"/>
            <a:ext cx="4194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75">
                <a:solidFill>
                  <a:schemeClr val="dk1"/>
                </a:solidFill>
              </a:rPr>
              <a:t>Runs behind the scenes on Maryland agency websites to capture user behavior data on website traffic and they interact with pages.</a:t>
            </a:r>
            <a:endParaRPr sz="1218">
              <a:solidFill>
                <a:schemeClr val="dk1"/>
              </a:solidFill>
            </a:endParaRPr>
          </a:p>
        </p:txBody>
      </p:sp>
      <p:sp>
        <p:nvSpPr>
          <p:cNvPr id="294" name="Google Shape;294;p56"/>
          <p:cNvSpPr/>
          <p:nvPr/>
        </p:nvSpPr>
        <p:spPr>
          <a:xfrm>
            <a:off x="488158" y="1210125"/>
            <a:ext cx="66600" cy="1413000"/>
          </a:xfrm>
          <a:prstGeom prst="rect">
            <a:avLst/>
          </a:prstGeom>
          <a:solidFill>
            <a:srgbClr val="C81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/>
          <p:cNvSpPr/>
          <p:nvPr/>
        </p:nvSpPr>
        <p:spPr>
          <a:xfrm>
            <a:off x="5273725" y="1431525"/>
            <a:ext cx="3565800" cy="2654700"/>
          </a:xfrm>
          <a:prstGeom prst="roundRect">
            <a:avLst>
              <a:gd fmla="val 3236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br>
              <a:rPr b="1" lang="en" sz="1100">
                <a:solidFill>
                  <a:srgbClr val="231F20"/>
                </a:solidFill>
              </a:rPr>
            </a:br>
            <a:r>
              <a:rPr b="1" lang="en" sz="1100">
                <a:solidFill>
                  <a:srgbClr val="231F20"/>
                </a:solidFill>
              </a:rPr>
              <a:t>https://analytics.maryland.gov</a:t>
            </a:r>
            <a:endParaRPr b="1" sz="1100">
              <a:solidFill>
                <a:srgbClr val="231F20"/>
              </a:solidFill>
            </a:endParaRPr>
          </a:p>
        </p:txBody>
      </p:sp>
      <p:sp>
        <p:nvSpPr>
          <p:cNvPr id="300" name="Google Shape;300;p57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57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Analytics.Maryland.gov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57" title="Screenshot 2026-08-14 121857.png"/>
          <p:cNvPicPr preferRelativeResize="0"/>
          <p:nvPr/>
        </p:nvPicPr>
        <p:blipFill rotWithShape="1">
          <a:blip r:embed="rId3">
            <a:alphaModFix/>
          </a:blip>
          <a:srcRect b="0" l="0" r="60112" t="0"/>
          <a:stretch/>
        </p:blipFill>
        <p:spPr>
          <a:xfrm>
            <a:off x="5401126" y="1624318"/>
            <a:ext cx="3310999" cy="18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7"/>
          <p:cNvSpPr/>
          <p:nvPr/>
        </p:nvSpPr>
        <p:spPr>
          <a:xfrm>
            <a:off x="487150" y="1695551"/>
            <a:ext cx="4641300" cy="1987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4" name="Google Shape;304;p57"/>
          <p:cNvSpPr txBox="1"/>
          <p:nvPr/>
        </p:nvSpPr>
        <p:spPr>
          <a:xfrm>
            <a:off x="715367" y="1847715"/>
            <a:ext cx="4403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8">
                <a:solidFill>
                  <a:schemeClr val="dk1"/>
                </a:solidFill>
              </a:rPr>
              <a:t>Standardized dashboards</a:t>
            </a:r>
            <a:endParaRPr b="1" sz="1418">
              <a:solidFill>
                <a:schemeClr val="dk1"/>
              </a:solidFill>
            </a:endParaRPr>
          </a:p>
        </p:txBody>
      </p:sp>
      <p:sp>
        <p:nvSpPr>
          <p:cNvPr id="305" name="Google Shape;305;p57"/>
          <p:cNvSpPr txBox="1"/>
          <p:nvPr/>
        </p:nvSpPr>
        <p:spPr>
          <a:xfrm>
            <a:off x="715367" y="2146088"/>
            <a:ext cx="4194000" cy="1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75">
                <a:solidFill>
                  <a:schemeClr val="dk1"/>
                </a:solidFill>
              </a:rPr>
              <a:t>Instant access to agency metrics with pre-configured charts and reports built specifically for state agency needs and KPI tracking. </a:t>
            </a:r>
            <a:r>
              <a:rPr lang="en" sz="1175">
                <a:solidFill>
                  <a:schemeClr val="dk1"/>
                </a:solidFill>
              </a:rPr>
              <a:t>Gives agency leaders and web managers the data they need to make decisions on website redesigns, content updates, or resource allocation.</a:t>
            </a:r>
            <a:endParaRPr sz="1218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5">
              <a:solidFill>
                <a:srgbClr val="555555"/>
              </a:solidFill>
            </a:endParaRPr>
          </a:p>
        </p:txBody>
      </p:sp>
      <p:sp>
        <p:nvSpPr>
          <p:cNvPr id="306" name="Google Shape;306;p57"/>
          <p:cNvSpPr/>
          <p:nvPr/>
        </p:nvSpPr>
        <p:spPr>
          <a:xfrm>
            <a:off x="488150" y="1695551"/>
            <a:ext cx="72300" cy="1987500"/>
          </a:xfrm>
          <a:prstGeom prst="rect">
            <a:avLst/>
          </a:prstGeom>
          <a:solidFill>
            <a:srgbClr val="C81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07" name="Google Shape;30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125" y="1630525"/>
            <a:ext cx="3311001" cy="2092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8"/>
          <p:cNvSpPr/>
          <p:nvPr/>
        </p:nvSpPr>
        <p:spPr>
          <a:xfrm>
            <a:off x="3181338" y="1656575"/>
            <a:ext cx="2687100" cy="2258400"/>
          </a:xfrm>
          <a:prstGeom prst="roundRect">
            <a:avLst>
              <a:gd fmla="val 2154" name="adj"/>
            </a:avLst>
          </a:prstGeom>
          <a:solidFill>
            <a:srgbClr val="FFFFF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13" name="Google Shape;31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6363" y="2035075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8"/>
          <p:cNvSpPr/>
          <p:nvPr/>
        </p:nvSpPr>
        <p:spPr>
          <a:xfrm>
            <a:off x="325075" y="1656575"/>
            <a:ext cx="2687100" cy="2258400"/>
          </a:xfrm>
          <a:prstGeom prst="roundRect">
            <a:avLst>
              <a:gd fmla="val 2154" name="adj"/>
            </a:avLst>
          </a:prstGeom>
          <a:solidFill>
            <a:srgbClr val="FFFFF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15" name="Google Shape;31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450" y="2063567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8"/>
          <p:cNvSpPr/>
          <p:nvPr/>
        </p:nvSpPr>
        <p:spPr>
          <a:xfrm>
            <a:off x="6042375" y="1656575"/>
            <a:ext cx="2687100" cy="2258400"/>
          </a:xfrm>
          <a:prstGeom prst="roundRect">
            <a:avLst>
              <a:gd fmla="val 2154" name="adj"/>
            </a:avLst>
          </a:prstGeom>
          <a:solidFill>
            <a:srgbClr val="FFFFF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17" name="Google Shape;31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6275" y="2039775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58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58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Empowering web leads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8"/>
          <p:cNvSpPr/>
          <p:nvPr/>
        </p:nvSpPr>
        <p:spPr>
          <a:xfrm>
            <a:off x="6037625" y="1656600"/>
            <a:ext cx="2688300" cy="102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31F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1" name="Google Shape;321;p58"/>
          <p:cNvSpPr/>
          <p:nvPr/>
        </p:nvSpPr>
        <p:spPr>
          <a:xfrm>
            <a:off x="320325" y="1656600"/>
            <a:ext cx="2688300" cy="102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C81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2" name="Google Shape;322;p58"/>
          <p:cNvSpPr txBox="1"/>
          <p:nvPr/>
        </p:nvSpPr>
        <p:spPr>
          <a:xfrm>
            <a:off x="495554" y="2354452"/>
            <a:ext cx="24408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6">
                <a:solidFill>
                  <a:schemeClr val="dk1"/>
                </a:solidFill>
              </a:rPr>
              <a:t>Simplified access to data</a:t>
            </a:r>
            <a:endParaRPr sz="1065">
              <a:solidFill>
                <a:schemeClr val="dk1"/>
              </a:solidFill>
            </a:endParaRPr>
          </a:p>
        </p:txBody>
      </p:sp>
      <p:sp>
        <p:nvSpPr>
          <p:cNvPr id="323" name="Google Shape;323;p58"/>
          <p:cNvSpPr txBox="1"/>
          <p:nvPr/>
        </p:nvSpPr>
        <p:spPr>
          <a:xfrm>
            <a:off x="495554" y="2615418"/>
            <a:ext cx="2324400" cy="63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27">
                <a:solidFill>
                  <a:schemeClr val="dk1"/>
                </a:solidFill>
              </a:rPr>
              <a:t>Makes it easy to query specific metrics that may not be available on standard analytics.maryland.gov dashboards.</a:t>
            </a:r>
            <a:endParaRPr sz="1065">
              <a:solidFill>
                <a:schemeClr val="dk1"/>
              </a:solidFill>
            </a:endParaRPr>
          </a:p>
        </p:txBody>
      </p:sp>
      <p:sp>
        <p:nvSpPr>
          <p:cNvPr id="324" name="Google Shape;324;p58"/>
          <p:cNvSpPr txBox="1"/>
          <p:nvPr/>
        </p:nvSpPr>
        <p:spPr>
          <a:xfrm>
            <a:off x="3356593" y="2354452"/>
            <a:ext cx="24408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6">
                <a:solidFill>
                  <a:schemeClr val="dk1"/>
                </a:solidFill>
              </a:rPr>
              <a:t>Eliminates technical gap</a:t>
            </a:r>
            <a:endParaRPr b="1" sz="1256">
              <a:solidFill>
                <a:schemeClr val="dk1"/>
              </a:solidFill>
            </a:endParaRPr>
          </a:p>
        </p:txBody>
      </p:sp>
      <p:sp>
        <p:nvSpPr>
          <p:cNvPr id="325" name="Google Shape;325;p58"/>
          <p:cNvSpPr txBox="1"/>
          <p:nvPr/>
        </p:nvSpPr>
        <p:spPr>
          <a:xfrm>
            <a:off x="3356593" y="2615418"/>
            <a:ext cx="23244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27">
                <a:solidFill>
                  <a:schemeClr val="dk1"/>
                </a:solidFill>
              </a:rPr>
              <a:t>Reduces training requirements for staff who have GA access but struggle with constructing custom GA4 explorations.</a:t>
            </a:r>
            <a:endParaRPr sz="1027">
              <a:solidFill>
                <a:schemeClr val="dk1"/>
              </a:solidFill>
            </a:endParaRPr>
          </a:p>
        </p:txBody>
      </p:sp>
      <p:sp>
        <p:nvSpPr>
          <p:cNvPr id="326" name="Google Shape;326;p58"/>
          <p:cNvSpPr txBox="1"/>
          <p:nvPr/>
        </p:nvSpPr>
        <p:spPr>
          <a:xfrm>
            <a:off x="6217633" y="2354452"/>
            <a:ext cx="24408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6">
                <a:solidFill>
                  <a:schemeClr val="dk1"/>
                </a:solidFill>
              </a:rPr>
              <a:t>Accelerates decision making</a:t>
            </a:r>
            <a:endParaRPr sz="1065">
              <a:solidFill>
                <a:schemeClr val="dk1"/>
              </a:solidFill>
            </a:endParaRPr>
          </a:p>
        </p:txBody>
      </p:sp>
      <p:sp>
        <p:nvSpPr>
          <p:cNvPr id="327" name="Google Shape;327;p58"/>
          <p:cNvSpPr txBox="1"/>
          <p:nvPr/>
        </p:nvSpPr>
        <p:spPr>
          <a:xfrm>
            <a:off x="6217633" y="2615418"/>
            <a:ext cx="23244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27">
                <a:solidFill>
                  <a:schemeClr val="dk1"/>
                </a:solidFill>
              </a:rPr>
              <a:t>Allows agency staff to ask plain-language questions and receive instant, actionable insights to inform day-to-day choices.</a:t>
            </a:r>
            <a:endParaRPr sz="1027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7">
              <a:solidFill>
                <a:srgbClr val="555555"/>
              </a:solidFill>
            </a:endParaRPr>
          </a:p>
        </p:txBody>
      </p:sp>
      <p:sp>
        <p:nvSpPr>
          <p:cNvPr id="328" name="Google Shape;328;p58"/>
          <p:cNvSpPr/>
          <p:nvPr/>
        </p:nvSpPr>
        <p:spPr>
          <a:xfrm>
            <a:off x="3182813" y="1656600"/>
            <a:ext cx="2679300" cy="1002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C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59"/>
          <p:cNvSpPr txBox="1"/>
          <p:nvPr>
            <p:ph type="title"/>
          </p:nvPr>
        </p:nvSpPr>
        <p:spPr>
          <a:xfrm>
            <a:off x="314325" y="306319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</a:t>
            </a:r>
            <a:r>
              <a:rPr b="1" lang="en"/>
              <a:t> you can use Google </a:t>
            </a:r>
            <a:r>
              <a:rPr b="1" lang="en"/>
              <a:t>Analytics</a:t>
            </a:r>
            <a:r>
              <a:rPr b="1" lang="en"/>
              <a:t>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9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Google Analytics Console (analytics.google.com)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Build a dashboard (Data Studio, Power BI, </a:t>
            </a:r>
            <a:r>
              <a:rPr lang="en" u="sng">
                <a:solidFill>
                  <a:schemeClr val="hlink"/>
                </a:solidFill>
                <a:hlinkClick r:id="rId3"/>
              </a:rPr>
              <a:t>analytics.maryland.gov</a:t>
            </a:r>
            <a:r>
              <a:rPr lang="en">
                <a:solidFill>
                  <a:schemeClr val="dk1"/>
                </a:solidFill>
              </a:rPr>
              <a:t>, etc.)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Build reports using the SDK (Java, Python, .NET, REST)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Use the MCP (Model Context Protocol)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Most agencies use none(!), 1. and/or 2.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Google Analytics Chat App </a:t>
            </a:r>
            <a:r>
              <a:rPr lang="en">
                <a:solidFill>
                  <a:schemeClr val="dk1"/>
                </a:solidFill>
              </a:rPr>
              <a:t>uses </a:t>
            </a:r>
            <a:r>
              <a:rPr lang="en">
                <a:solidFill>
                  <a:schemeClr val="dk1"/>
                </a:solidFill>
              </a:rPr>
              <a:t>4. (3. under the hood)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0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60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0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0"/>
          <p:cNvSpPr txBox="1"/>
          <p:nvPr/>
        </p:nvSpPr>
        <p:spPr>
          <a:xfrm>
            <a:off x="7930800" y="3867825"/>
            <a:ext cx="1120200" cy="624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i="1" lang="en" sz="1000">
                <a:solidFill>
                  <a:srgbClr val="231F20"/>
                </a:solidFill>
              </a:rPr>
              <a:t>Image created using nano banana</a:t>
            </a:r>
            <a:endParaRPr i="1" sz="1000">
              <a:solidFill>
                <a:srgbClr val="231F20"/>
              </a:solidFill>
            </a:endParaRPr>
          </a:p>
        </p:txBody>
      </p:sp>
      <p:pic>
        <p:nvPicPr>
          <p:cNvPr id="344" name="Google Shape;344;p60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100"/>
            <a:ext cx="7930798" cy="442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1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61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Google Analytics Chat App Cost Tracking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1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Built using Claude Code and Antigravity CLI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Powered by Gemini 3.5 Flash Lite: cheap and fast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Gemini API costs: $10 - $50 / month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Other Google Cloud Platform (GCP) costs: &lt; $5 / month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AI Innovation Lab request from MDDS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MDDS Procured via SOW for DoIT GCP Enterprise Agreement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chargeback for agencies. Maryland Digital Service (MDDS) is covering costs and encouraging usage to help agencies make data-driven decisions to improve website content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2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62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Testimonials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62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8122C"/>
                </a:solidFill>
              </a:rPr>
              <a:t>“</a:t>
            </a:r>
            <a:r>
              <a:rPr lang="en">
                <a:solidFill>
                  <a:schemeClr val="dk1"/>
                </a:solidFill>
              </a:rPr>
              <a:t>This tool was such an unlock for our agency partners. It made previously opaque analytics data open to a much wider audience and is helping individual programs make better, data-informed decisions on content organization and design.</a:t>
            </a:r>
            <a:r>
              <a:rPr lang="en">
                <a:solidFill>
                  <a:srgbClr val="FF0000"/>
                </a:solidFill>
              </a:rPr>
              <a:t>”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Paul Roberts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Senior Service Designer, MDDS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8122C"/>
                </a:solidFill>
              </a:rPr>
              <a:t>“</a:t>
            </a:r>
            <a:r>
              <a:rPr lang="en">
                <a:solidFill>
                  <a:schemeClr val="dk1"/>
                </a:solidFill>
              </a:rPr>
              <a:t>The chat tool helped our team make the case for implementing data-informed decisions about content changes that we could not have otherwise due to analytics access limitations. This helped us build a stronger hypothesis that we could test with real users more quickly.</a:t>
            </a:r>
            <a:r>
              <a:rPr lang="en">
                <a:solidFill>
                  <a:srgbClr val="C8122C"/>
                </a:solidFill>
              </a:rPr>
              <a:t>”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Kit Miklik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UX Lead, MDDS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3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63"/>
          <p:cNvSpPr txBox="1"/>
          <p:nvPr>
            <p:ph type="title"/>
          </p:nvPr>
        </p:nvSpPr>
        <p:spPr>
          <a:xfrm>
            <a:off x="314325" y="260786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Google Analytics Chat App Demo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63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https://ai.maryland.gov/gachatapp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Natural language queries of Google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Analytics data to improve website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content across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Maryland.gov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sites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Book AI office hours</a:t>
            </a:r>
            <a:r>
              <a:rPr lang="en">
                <a:solidFill>
                  <a:schemeClr val="dk1"/>
                </a:solidFill>
              </a:rPr>
              <a:t> to learn more,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ask questions, and get training 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">
                <a:solidFill>
                  <a:schemeClr val="dk1"/>
                </a:solidFill>
              </a:rPr>
              <a:t>Your agency’s web lead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66" name="Google Shape;366;p63"/>
          <p:cNvPicPr preferRelativeResize="0"/>
          <p:nvPr/>
        </p:nvPicPr>
        <p:blipFill rotWithShape="1">
          <a:blip r:embed="rId6">
            <a:alphaModFix/>
          </a:blip>
          <a:srcRect b="56961" l="0" r="0" t="0"/>
          <a:stretch/>
        </p:blipFill>
        <p:spPr>
          <a:xfrm>
            <a:off x="4183400" y="971550"/>
            <a:ext cx="4747321" cy="2330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63"/>
          <p:cNvPicPr preferRelativeResize="0"/>
          <p:nvPr/>
        </p:nvPicPr>
        <p:blipFill rotWithShape="1">
          <a:blip r:embed="rId6">
            <a:alphaModFix/>
          </a:blip>
          <a:srcRect b="0" l="0" r="0" t="81335"/>
          <a:stretch/>
        </p:blipFill>
        <p:spPr>
          <a:xfrm>
            <a:off x="4183479" y="3304106"/>
            <a:ext cx="4747321" cy="101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4"/>
          <p:cNvSpPr txBox="1"/>
          <p:nvPr>
            <p:ph type="title"/>
          </p:nvPr>
        </p:nvSpPr>
        <p:spPr>
          <a:xfrm>
            <a:off x="571500" y="1347430"/>
            <a:ext cx="8001000" cy="2047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Building an AI Voice Agent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Helen Liang, Maryland Department of Disabilities (MDOD)</a:t>
            </a:r>
            <a:endParaRPr sz="1800"/>
          </a:p>
        </p:txBody>
      </p:sp>
      <p:sp>
        <p:nvSpPr>
          <p:cNvPr id="373" name="Google Shape;373;p64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5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65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The Goal: An AI Call Screener Assistant for MDOD</a:t>
            </a:r>
            <a:endParaRPr b="1"/>
          </a:p>
        </p:txBody>
      </p:sp>
      <p:sp>
        <p:nvSpPr>
          <p:cNvPr id="380" name="Google Shape;380;p65"/>
          <p:cNvSpPr txBox="1"/>
          <p:nvPr>
            <p:ph idx="1" type="body"/>
          </p:nvPr>
        </p:nvSpPr>
        <p:spPr>
          <a:xfrm>
            <a:off x="314325" y="1076325"/>
            <a:ext cx="8603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The ask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300">
                <a:solidFill>
                  <a:schemeClr val="dk1"/>
                </a:solidFill>
              </a:rPr>
              <a:t>Use Google’s CX Agent Studio to build a front-facing chatbot for inbound calls to the front desk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300">
                <a:solidFill>
                  <a:schemeClr val="dk1"/>
                </a:solidFill>
              </a:rPr>
              <a:t>Deterministic model — limited to logic flow instructed to the bot, aimed at preventing large-scale hallucinations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300">
                <a:solidFill>
                  <a:schemeClr val="dk1"/>
                </a:solidFill>
              </a:rPr>
              <a:t>Answer one question — Social Security (SSA) disability benefits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300">
                <a:solidFill>
                  <a:schemeClr val="dk1"/>
                </a:solidFill>
              </a:rPr>
              <a:t>Route every other caller to the front desk staff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300">
                <a:solidFill>
                  <a:schemeClr val="dk1"/>
                </a:solidFill>
              </a:rPr>
              <a:t>Be accessible to callers with disabilities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</a:rPr>
              <a:t>Why AI?</a:t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300">
                <a:solidFill>
                  <a:schemeClr val="dk1"/>
                </a:solidFill>
              </a:rPr>
              <a:t>Current operation structure: MDOD staff answer the phone, work out what each caller needs (frequently unrelated to our operations), and connect Marylanders to the right program or person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300">
                <a:solidFill>
                  <a:schemeClr val="dk1"/>
                </a:solidFill>
              </a:rPr>
              <a:t>Much of that call volume is the same handful of questions, asked over and over, that MDOD can’t actually help with, and which delays constituent access to resources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6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66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Optimizing Efficiency without Sacrificing Customer Service</a:t>
            </a:r>
            <a:endParaRPr b="1"/>
          </a:p>
        </p:txBody>
      </p:sp>
      <p:sp>
        <p:nvSpPr>
          <p:cNvPr id="387" name="Google Shape;387;p66"/>
          <p:cNvSpPr txBox="1"/>
          <p:nvPr>
            <p:ph idx="1" type="body"/>
          </p:nvPr>
        </p:nvSpPr>
        <p:spPr>
          <a:xfrm>
            <a:off x="314325" y="1076325"/>
            <a:ext cx="3810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Saving staff time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Repeat SSA benefits calls get handled without pulling a staff member away from other work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Time comes back to the complex constituent cases that actually need judgment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Fewer interruptions means faster follow-up on open cases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8" name="Google Shape;388;p66"/>
          <p:cNvSpPr txBox="1"/>
          <p:nvPr>
            <p:ph idx="2" type="body"/>
          </p:nvPr>
        </p:nvSpPr>
        <p:spPr>
          <a:xfrm>
            <a:off x="5019825" y="1076325"/>
            <a:ext cx="3810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Holding service quality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bot answers only what it can answer confidently — everything else routes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Callers reach a person whenever they want one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Staff remain the point of contact for anything nuanced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Accessibility is a requirement, not an enhancement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7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"/>
              <a:t>Building Process and Infrastructure</a:t>
            </a:r>
            <a:endParaRPr b="1"/>
          </a:p>
        </p:txBody>
      </p:sp>
      <p:sp>
        <p:nvSpPr>
          <p:cNvPr id="394" name="Google Shape;394;p67"/>
          <p:cNvSpPr txBox="1"/>
          <p:nvPr>
            <p:ph idx="1" type="body"/>
          </p:nvPr>
        </p:nvSpPr>
        <p:spPr>
          <a:xfrm>
            <a:off x="314324" y="1076325"/>
            <a:ext cx="2628051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No-code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Created using Google CX Agent Studio, part of the GCP suite of tools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Plain-language instructions able to be transformed into “code” — XML language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395" name="Google Shape;395;p67"/>
          <p:cNvSpPr txBox="1"/>
          <p:nvPr>
            <p:ph idx="2" type="body"/>
          </p:nvPr>
        </p:nvSpPr>
        <p:spPr>
          <a:xfrm>
            <a:off x="3033952" y="1076325"/>
            <a:ext cx="271397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lnSpcReduction="1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HTML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Deployable as an interactive widget with websites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be a voice, text, or voice and text based agent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Code automatically generated by Agent Studio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96" name="Google Shape;396;p67"/>
          <p:cNvSpPr txBox="1"/>
          <p:nvPr>
            <p:ph idx="3" type="body"/>
          </p:nvPr>
        </p:nvSpPr>
        <p:spPr>
          <a:xfrm>
            <a:off x="6029608" y="1076325"/>
            <a:ext cx="288772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AWS Sandbox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Worked with Lauren, Michael, and DoIT team to create a sandbox for simulating the phone line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Ported GCP project into Amazon and aim to link to Amazon Connect phone number for test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7" name="Google Shape;397;p67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8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68"/>
          <p:cNvSpPr txBox="1"/>
          <p:nvPr>
            <p:ph type="title"/>
          </p:nvPr>
        </p:nvSpPr>
        <p:spPr>
          <a:xfrm>
            <a:off x="594980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What the Chatbot Does</a:t>
            </a:r>
            <a:endParaRPr b="1"/>
          </a:p>
        </p:txBody>
      </p:sp>
      <p:sp>
        <p:nvSpPr>
          <p:cNvPr id="404" name="Google Shape;404;p68"/>
          <p:cNvSpPr txBox="1"/>
          <p:nvPr>
            <p:ph idx="1" type="body"/>
          </p:nvPr>
        </p:nvSpPr>
        <p:spPr>
          <a:xfrm>
            <a:off x="664426" y="1060075"/>
            <a:ext cx="33873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Answers one question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Focused scope: SSA benefits inquiries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Consistent, accurate answer on every call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Directs constituents to regional social security offices based on zip codes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p68"/>
          <p:cNvSpPr txBox="1"/>
          <p:nvPr>
            <p:ph idx="2" type="body"/>
          </p:nvPr>
        </p:nvSpPr>
        <p:spPr>
          <a:xfrm>
            <a:off x="5020225" y="991219"/>
            <a:ext cx="33873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Routes everyone else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Any other question goes straight to the front desk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No dead ends — a caller who wants to talk to a person gets transferred to one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9"/>
          <p:cNvSpPr txBox="1"/>
          <p:nvPr>
            <p:ph type="title"/>
          </p:nvPr>
        </p:nvSpPr>
        <p:spPr>
          <a:xfrm>
            <a:off x="314325" y="27189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"/>
              <a:t>Video Demo</a:t>
            </a:r>
            <a:endParaRPr b="1"/>
          </a:p>
        </p:txBody>
      </p:sp>
      <p:sp>
        <p:nvSpPr>
          <p:cNvPr id="411" name="Google Shape;411;p69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2" name="Google Shape;412;p69" title="Social Security Chatbot Regional Office 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6" y="971550"/>
            <a:ext cx="6018427" cy="338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0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70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Challenges Along the Way</a:t>
            </a:r>
            <a:endParaRPr b="1"/>
          </a:p>
        </p:txBody>
      </p:sp>
      <p:sp>
        <p:nvSpPr>
          <p:cNvPr id="419" name="Google Shape;419;p70"/>
          <p:cNvSpPr txBox="1"/>
          <p:nvPr/>
        </p:nvSpPr>
        <p:spPr>
          <a:xfrm>
            <a:off x="314175" y="1147952"/>
            <a:ext cx="77253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 hallucinations with dataset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Formatting instructions and language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Deployment of bot to phone line testing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of Maryland permissions issues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Experimental nature of new platforms, lack of clear roadmap guide</a:t>
            </a:r>
            <a:endParaRPr>
              <a:solidFill>
                <a:schemeClr val="dk1"/>
              </a:solidFill>
            </a:endParaRPr>
          </a:p>
          <a:p>
            <a:pPr indent="-254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1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71"/>
          <p:cNvSpPr txBox="1"/>
          <p:nvPr>
            <p:ph type="title"/>
          </p:nvPr>
        </p:nvSpPr>
        <p:spPr>
          <a:xfrm>
            <a:off x="314325" y="279354"/>
            <a:ext cx="851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Risks and Future Costs of Going Public</a:t>
            </a:r>
            <a:endParaRPr b="1"/>
          </a:p>
        </p:txBody>
      </p:sp>
      <p:sp>
        <p:nvSpPr>
          <p:cNvPr id="426" name="Google Shape;426;p71"/>
          <p:cNvSpPr txBox="1"/>
          <p:nvPr>
            <p:ph idx="1" type="body"/>
          </p:nvPr>
        </p:nvSpPr>
        <p:spPr>
          <a:xfrm>
            <a:off x="314325" y="971550"/>
            <a:ext cx="8515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Before this moves to the public</a:t>
            </a:r>
            <a:r>
              <a:rPr b="1" lang="en" sz="1600"/>
              <a:t> </a:t>
            </a:r>
            <a:endParaRPr sz="1600"/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Costs scale with traffic, not with staff time saved. Usage-based pricing with third-party agents means a public entry point could multiply session volume well past what an internal phone line generates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There is no spending cap by default: Quotas, per-session limits, and billing alerts need to be set before launch, not after the first surprise invoice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wrong SSA benefits answer carries more exposure in public than in a pilot; keeping scope narrow, logging every interaction, and routing anything uncertain are the controls that protect us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Maintenance is a standing line item, not a one-time build — SSA guidance changes, and someone has to own reviewing and updating the answer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2"/>
          <p:cNvSpPr txBox="1"/>
          <p:nvPr>
            <p:ph type="title"/>
          </p:nvPr>
        </p:nvSpPr>
        <p:spPr>
          <a:xfrm>
            <a:off x="571500" y="1347430"/>
            <a:ext cx="8001000" cy="2047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Features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Lauren Maffeo, DoIT</a:t>
            </a:r>
            <a:endParaRPr sz="1800"/>
          </a:p>
        </p:txBody>
      </p:sp>
      <p:sp>
        <p:nvSpPr>
          <p:cNvPr id="432" name="Google Shape;432;p72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3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73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Workspace 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73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https://studio.workspace.google.com/skills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/>
          </a:p>
        </p:txBody>
      </p:sp>
      <p:pic>
        <p:nvPicPr>
          <p:cNvPr descr="In this video, you will learn how to create and use skills in Workspace to automate tasks, reuse formatting preferences, and scale processes.&#10;&#10;0:00 Intro&#10;0:05 What are skills?&#10;1:07 How to create skills&#10;&#10;Learn more about Google Workspace Studio ➡️ https://www.youtube.com/playlist?list=PLDdffPXqmxKNtTUF7H3mab3HEnXzxRi8V&#10;&#10;Subscribe to our YouTube channel: https://www.youtube.com/@googleworkspacedevs/&#10;&#10;#WorkspaceStudio #GoogleWorkspace #Gemini" id="440" name="Google Shape;440;p73" title="How to use skills in Google Workspace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528" y="1516300"/>
            <a:ext cx="5060075" cy="28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4"/>
          <p:cNvSpPr txBox="1"/>
          <p:nvPr>
            <p:ph idx="12" type="sldNum"/>
          </p:nvPr>
        </p:nvSpPr>
        <p:spPr>
          <a:xfrm>
            <a:off x="8368635" y="4767188"/>
            <a:ext cx="548700" cy="2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74"/>
          <p:cNvSpPr txBox="1"/>
          <p:nvPr>
            <p:ph type="title"/>
          </p:nvPr>
        </p:nvSpPr>
        <p:spPr>
          <a:xfrm>
            <a:off x="314325" y="400050"/>
            <a:ext cx="8515500" cy="57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What’s Next?</a:t>
            </a:r>
            <a:endParaRPr b="1"/>
          </a:p>
        </p:txBody>
      </p:sp>
      <p:sp>
        <p:nvSpPr>
          <p:cNvPr id="447" name="Google Shape;447;p74"/>
          <p:cNvSpPr txBox="1"/>
          <p:nvPr>
            <p:ph idx="1" type="body"/>
          </p:nvPr>
        </p:nvSpPr>
        <p:spPr>
          <a:xfrm>
            <a:off x="314325" y="1076325"/>
            <a:ext cx="8515500" cy="3429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meet each 1st Friday of the month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Submit your AI use cases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to our inventory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Book MDAI office hours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Email </a:t>
            </a:r>
            <a:r>
              <a:rPr lang="en" u="sng">
                <a:solidFill>
                  <a:schemeClr val="hlink"/>
                </a:solidFill>
                <a:hlinkClick r:id="rId5"/>
              </a:rPr>
              <a:t>AI@maryland.gov</a:t>
            </a:r>
            <a:r>
              <a:rPr lang="en"/>
              <a:t> to show your work at a future AI CoP!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31F20"/>
      </a:dk1>
      <a:lt1>
        <a:srgbClr val="FFFFFF"/>
      </a:lt1>
      <a:dk2>
        <a:srgbClr val="555555"/>
      </a:dk2>
      <a:lt2>
        <a:srgbClr val="C8122C"/>
      </a:lt2>
      <a:accent1>
        <a:srgbClr val="FFC838"/>
      </a:accent1>
      <a:accent2>
        <a:srgbClr val="005EA2"/>
      </a:accent2>
      <a:accent3>
        <a:srgbClr val="A7A7A7"/>
      </a:accent3>
      <a:accent4>
        <a:srgbClr val="EEEEEE"/>
      </a:accent4>
      <a:accent5>
        <a:srgbClr val="F8F8F8"/>
      </a:accent5>
      <a:accent6>
        <a:srgbClr val="004271"/>
      </a:accent6>
      <a:hlink>
        <a:srgbClr val="005EA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31F20"/>
      </a:dk1>
      <a:lt1>
        <a:srgbClr val="FFFFFF"/>
      </a:lt1>
      <a:dk2>
        <a:srgbClr val="555555"/>
      </a:dk2>
      <a:lt2>
        <a:srgbClr val="C8122C"/>
      </a:lt2>
      <a:accent1>
        <a:srgbClr val="FFC838"/>
      </a:accent1>
      <a:accent2>
        <a:srgbClr val="005EA2"/>
      </a:accent2>
      <a:accent3>
        <a:srgbClr val="A7A7A7"/>
      </a:accent3>
      <a:accent4>
        <a:srgbClr val="EEEEEE"/>
      </a:accent4>
      <a:accent5>
        <a:srgbClr val="F8F8F8"/>
      </a:accent5>
      <a:accent6>
        <a:srgbClr val="004271"/>
      </a:accent6>
      <a:hlink>
        <a:srgbClr val="005EA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